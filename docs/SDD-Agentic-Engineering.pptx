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d="{51ff2e03-2fcd-5851-b8fe-ff816c9638da}">
          <p14:sldIdLst>
            <p14:sldId id="256"/>
            <p14:sldId id="257"/>
            <p14:sldId id="258"/>
          </p14:sldIdLst>
        </p14:section>
        <p14:section name="SDD" id="{640eae1d-35a4-c4f1-86e9-cc868cf2a08c}">
          <p14:sldIdLst>
            <p14:sldId id="259"/>
            <p14:sldId id="260"/>
            <p14:sldId id="261"/>
            <p14:sldId id="262"/>
          </p14:sldIdLst>
        </p14:section>
        <p14:section name="Agentic" id="{218e29cc-c965-2e03-464a-42b5defb4016}">
          <p14:sldIdLst>
            <p14:sldId id="263"/>
            <p14:sldId id="264"/>
            <p14:sldId id="265"/>
            <p14:sldId id="266"/>
            <p14:sldId id="267"/>
            <p14:sldId id="268"/>
          </p14:sldIdLst>
        </p14:section>
        <p14:section name="Practice" id="{598d17a0-7615-1199-b448-f092264431df}">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15 minutes of ideas, 15 minutes of code. Everything you'll see is in a public repo with one git tag per step, so you can replay it at home with Gemini CLI.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Raise hands: who has asked an agent for a feature, got 500 lines, and then rewrote half of it? The problem isn't the model, it's that intent was never written down. The agent fills every gap with a guess, and nobody can tell later why a line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SDD: you write the what and why first, in a structured spec. The agent derives plan, tasks and code from it. When requirements change, you change the spec and regenerate. The spec is executable intent.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SDD isn't one thing. Birgitta Böckeler (Thoughtworks) describes three levels. Spec-first: write a spec to guide a task, maybe discard it. Spec-anchored: the spec stays in the repo and evolves with the feature — that's what the demo shows. Spec-as-source: you only ever edit the spec and regenerate code; promising, but still emerging. Most teams should aim for level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spec has five parts. Intent, so the agent knows why. Scenarios in Given/When/Then — these become your tests almost mechanically. Requirements with IDs so you can trace them. Success criteria that are measurable. And boundaries: what's out of scope and what's still unknown. Notice what's missing: no frameworks, no databases.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what most of us type into a chat. 'Fast' and 'secure' mean nothing to an agent, and the tech choice is mixed into the requirement. Right: one story with an acceptance scenario, a precise rule, a number, and — importantly — an explicit open question. An agent can't guess wrong on something that's written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Tool-agnostic loop. Specify the what, plan the how, break it into tasks, implement, verify against acceptance criteria. When requirements change you don't patch code — you go back to the spec. If code and spec disagree, that's a bug in one of them, and you decide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few years we went from tab-completion, to chat that writes a function you paste, to agents that take a task, edit many files, run the tests and iterate. Look at the bottom row: our job moved from typing, to pasting, to defining and reviewing. That shift is what 'agentic engineering'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it: an agent is a language model in a loop. It plans, calls a tool — shell, file edit, test runner — reads the result, and repeats until it believes the goal is met. 'Believes' is the key word. Its output is only as good as the context you give it and the feedback signals, like tests, it gets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Agentic engineering is not 'let the AI do it'. You're the architect and reviewer; the agent is a fast, tireless implementer. The middle column are the gates: you review each artifact before the next step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only knows what's in its context window. Chat history is fragile; files are durable and reviewable. Layer it: standing rules on top, then the spec, the plan, the current task, and finally the code and tests as ground truth. Keep each layer small and relevant — dumping the whole repo in makes results worse, not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are confident, not correct. So you build the guardrails an SRE would: tests as the oracle, small diffs you can actually review, explicit human approval on the artifacts, and a sandbox with least privilege plus CI so nothing red merges. The motto flips: verify first, then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students and for us: the fundamentals matter more. Writing precise requirements, decomposing problems, designing tests, and having the taste to review architecture and security. The work moves up a level of abstraction — it doesn't go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SDD adds ceremony. For a throwaway script just prompt. It pays off when code lives long, more than one person touches it, or you need to explain why it does what it does. Biggest anti-pattern: running all commands back-to-back without reading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 for the demo: GitHub Spec Kit with Gemini CLI — specify init --integration gemini, then /speckit.* slash commands. Switch to terminal. Follow docs/DEMO.md: Act 1 is 8 minutes walking the tags, Act 2 is 6 minutes running a new feature live in Gemini. If the network fails, git checkout solution-002-click-stats.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to take home. Questions? The repo has every prompt in docs/PROMPTS.md so you can replay it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75488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788920"/>
            <a:ext cx="4572000" cy="822960"/>
          </a:xfrm>
          <a:prstGeom prst="rect">
            <a:avLst/>
          </a:prstGeom>
          <a:noFill/>
          <a:ln/>
        </p:spPr>
        <p:txBody>
          <a:bodyPr wrap="square" rtlCol="0"/>
          <a:lstStyle>
            <a:lvl1pPr algn="l" indent="0" marL="0">
              <a:buNone/>
              <a:defRPr lang="en-US" sz="1800" dirty="0">
                <a:solidFill>
                  <a:schemeClr val="accent1"/>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TITLE_ONLY">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GDG Pura Vida · Spec-Driven Development</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GDG Pura Vida · Spec-Driven Development</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4.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822960"/>
            <a:ext cx="4572000" cy="274320"/>
          </a:xfrm>
          <a:prstGeom prst="rect">
            <a:avLst/>
          </a:prstGeom>
          <a:noFill/>
          <a:ln/>
        </p:spPr>
        <p:txBody>
          <a:bodyPr wrap="square" lIns="0" tIns="0" rIns="0" bIns="0" rtlCol="0" anchor="ctr"/>
          <a:lstStyle/>
          <a:p>
            <a:pPr indent="0" marL="0">
              <a:buNone/>
            </a:pPr>
            <a:r>
              <a:rPr lang="en-US" sz="1200" b="1" spc="300" kern="0" dirty="0">
                <a:solidFill>
                  <a:schemeClr val="accent2"/>
                </a:solidFill>
              </a:rPr>
              <a:t>GDG PURA VIDA · LIGHTNING TALK</a:t>
            </a:r>
            <a:endParaRPr lang="en-US" sz="1200" dirty="0"/>
          </a:p>
        </p:txBody>
      </p:sp>
      <p:sp>
        <p:nvSpPr>
          <p:cNvPr id="3" name="Text 0"/>
          <p:cNvSpPr/>
          <p:nvPr>
            <p:ph idx="100" type="title" hasCustomPrompt="1"/>
          </p:nvPr>
        </p:nvSpPr>
        <p:spPr>
          <a:xfrm>
            <a:off x="548640" y="1234440"/>
            <a:ext cx="4754880" cy="1463040"/>
          </a:xfrm>
          <a:prstGeom prst="rect">
            <a:avLst/>
          </a:prstGeom>
          <a:noFill/>
          <a:ln/>
        </p:spPr>
        <p:txBody>
          <a:bodyPr wrap="square" lIns="0" tIns="0" rIns="0" bIns="0" rtlCol="0" anchor="b"/>
          <a:lstStyle/>
          <a:p>
            <a:pPr algn="l" indent="0" marL="0">
              <a:buNone/>
            </a:pPr>
            <a:r>
              <a:rPr lang="en-US" sz="4000" b="1" dirty="0">
                <a:solidFill>
                  <a:schemeClr val="bg1"/>
                </a:solidFill>
              </a:rPr>
              <a:t>Spec-Driven Development</a:t>
            </a:r>
            <a:endParaRPr lang="en-US" sz="4000" dirty="0"/>
          </a:p>
        </p:txBody>
      </p:sp>
      <p:sp>
        <p:nvSpPr>
          <p:cNvPr id="4" name="Text 0"/>
          <p:cNvSpPr/>
          <p:nvPr>
            <p:ph idx="101" type="body" hasCustomPrompt="1"/>
          </p:nvPr>
        </p:nvSpPr>
        <p:spPr>
          <a:xfrm>
            <a:off x="548640" y="2788920"/>
            <a:ext cx="4572000" cy="822960"/>
          </a:xfrm>
          <a:prstGeom prst="rect">
            <a:avLst/>
          </a:prstGeom>
          <a:noFill/>
          <a:ln/>
        </p:spPr>
        <p:txBody>
          <a:bodyPr wrap="square" lIns="0" tIns="0" rIns="0" bIns="0" rtlCol="0" anchor="t"/>
          <a:lstStyle/>
          <a:p>
            <a:pPr algn="l" indent="0" marL="0">
              <a:buNone/>
            </a:pPr>
            <a:r>
              <a:rPr lang="en-US" sz="1800" dirty="0">
                <a:solidFill>
                  <a:schemeClr val="accent1"/>
                </a:solidFill>
              </a:rPr>
              <a:t>From vibe coding to agentic engineering</a:t>
            </a:r>
            <a:endParaRPr lang="en-US" sz="1800" dirty="0"/>
          </a:p>
        </p:txBody>
      </p:sp>
      <p:sp>
        <p:nvSpPr>
          <p:cNvPr id="5" name="Text 3"/>
          <p:cNvSpPr txBox="1"/>
          <p:nvPr/>
        </p:nvSpPr>
        <p:spPr>
          <a:xfrm>
            <a:off x="548640" y="4206240"/>
            <a:ext cx="4572000" cy="320040"/>
          </a:xfrm>
          <a:prstGeom prst="rect">
            <a:avLst/>
          </a:prstGeom>
          <a:noFill/>
          <a:ln/>
        </p:spPr>
        <p:txBody>
          <a:bodyPr wrap="square" lIns="0" tIns="0" rIns="0" bIns="0" rtlCol="0" anchor="ctr"/>
          <a:lstStyle/>
          <a:p>
            <a:pPr indent="0" marL="0">
              <a:buNone/>
            </a:pPr>
            <a:r>
              <a:rPr lang="en-US" sz="1400" dirty="0">
                <a:solidFill>
                  <a:schemeClr val="bg2"/>
                </a:solidFill>
              </a:rPr>
              <a:t>Tiger · SRE @ IBM · Prof. UNA</a:t>
            </a:r>
            <a:endParaRPr lang="en-US" sz="1400" dirty="0"/>
          </a:p>
        </p:txBody>
      </p:sp>
      <p:pic>
        <p:nvPicPr>
          <p:cNvPr id="6" name="hero" descr="img/hero.png">    </p:cNvPr>
          <p:cNvPicPr>
            <a:picLocks noChangeAspect="1"/>
          </p:cNvPicPr>
          <p:nvPr/>
        </p:nvPicPr>
        <p:blipFill>
          <a:blip r:embed="rId1"/>
          <a:stretch>
            <a:fillRect/>
          </a:stretch>
        </p:blipFill>
        <p:spPr>
          <a:xfrm>
            <a:off x="5212080" y="411480"/>
            <a:ext cx="3840480" cy="32270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Vibe coding hits a wall</a:t>
            </a:r>
            <a:endParaRPr lang="en-US" sz="3200" dirty="0"/>
          </a:p>
        </p:txBody>
      </p:sp>
      <p:pic>
        <p:nvPicPr>
          <p:cNvPr id="3" name="vibe-vs-spec" descr="img/vibe.png">    </p:cNvPr>
          <p:cNvPicPr>
            <a:picLocks noChangeAspect="1"/>
          </p:cNvPicPr>
          <p:nvPr/>
        </p:nvPicPr>
        <p:blipFill>
          <a:blip r:embed="rId1"/>
          <a:stretch>
            <a:fillRect/>
          </a:stretch>
        </p:blipFill>
        <p:spPr>
          <a:xfrm>
            <a:off x="1280160" y="1051560"/>
            <a:ext cx="6583680" cy="2915630"/>
          </a:xfrm>
          <a:prstGeom prst="rect">
            <a:avLst/>
          </a:prstGeom>
        </p:spPr>
      </p:pic>
      <p:sp>
        <p:nvSpPr>
          <p:cNvPr id="4" name="icon-bg-FaWind"/>
          <p:cNvSpPr/>
          <p:nvPr/>
        </p:nvSpPr>
        <p:spPr>
          <a:xfrm>
            <a:off x="457200" y="4069080"/>
            <a:ext cx="457200" cy="457200"/>
          </a:xfrm>
          <a:prstGeom prst="ellipse">
            <a:avLst/>
          </a:prstGeom>
          <a:solidFill>
            <a:schemeClr val="accent2"/>
          </a:solidFill>
          <a:ln w="12700">
            <a:solidFill>
              <a:schemeClr val="accent2"/>
            </a:solidFill>
            <a:prstDash val="solid"/>
          </a:ln>
        </p:spPr>
      </p:sp>
      <p:pic>
        <p:nvPicPr>
          <p:cNvPr id="5" name="icon-FaWind" descr="preencoded.png">    </p:cNvPr>
          <p:cNvPicPr>
            <a:picLocks noChangeAspect="1"/>
          </p:cNvPicPr>
          <p:nvPr/>
        </p:nvPicPr>
        <p:blipFill>
          <a:blip r:embed="rId2"/>
          <a:stretch>
            <a:fillRect/>
          </a:stretch>
        </p:blipFill>
        <p:spPr>
          <a:xfrm>
            <a:off x="571500" y="4183380"/>
            <a:ext cx="228600" cy="228600"/>
          </a:xfrm>
          <a:prstGeom prst="rect">
            <a:avLst/>
          </a:prstGeom>
        </p:spPr>
      </p:pic>
      <p:sp>
        <p:nvSpPr>
          <p:cNvPr id="6" name="Text 2"/>
          <p:cNvSpPr txBox="1"/>
          <p:nvPr/>
        </p:nvSpPr>
        <p:spPr>
          <a:xfrm>
            <a:off x="1024128" y="4041648"/>
            <a:ext cx="2148840" cy="274320"/>
          </a:xfrm>
          <a:prstGeom prst="rect">
            <a:avLst/>
          </a:prstGeom>
          <a:noFill/>
          <a:ln/>
        </p:spPr>
        <p:txBody>
          <a:bodyPr wrap="square" lIns="0" tIns="0" rIns="0" bIns="0" rtlCol="0" anchor="ctr"/>
          <a:lstStyle/>
          <a:p>
            <a:pPr indent="0" marL="0">
              <a:buNone/>
            </a:pPr>
            <a:r>
              <a:rPr lang="en-US" sz="1500" b="1" dirty="0">
                <a:solidFill>
                  <a:schemeClr val="tx1"/>
                </a:solidFill>
              </a:rPr>
              <a:t>Context evaporates</a:t>
            </a:r>
            <a:endParaRPr lang="en-US" sz="1500" dirty="0"/>
          </a:p>
        </p:txBody>
      </p:sp>
      <p:sp>
        <p:nvSpPr>
          <p:cNvPr id="7" name="Text 3"/>
          <p:cNvSpPr txBox="1"/>
          <p:nvPr/>
        </p:nvSpPr>
        <p:spPr>
          <a:xfrm>
            <a:off x="1024128" y="4315968"/>
            <a:ext cx="2148840" cy="274320"/>
          </a:xfrm>
          <a:prstGeom prst="rect">
            <a:avLst/>
          </a:prstGeom>
          <a:noFill/>
          <a:ln/>
        </p:spPr>
        <p:txBody>
          <a:bodyPr wrap="square" lIns="0" tIns="0" rIns="0" bIns="0" rtlCol="0" anchor="ctr"/>
          <a:lstStyle/>
          <a:p>
            <a:pPr indent="0" marL="0">
              <a:buNone/>
            </a:pPr>
            <a:r>
              <a:rPr lang="en-US" sz="1200" dirty="0">
                <a:solidFill>
                  <a:schemeClr val="accent6"/>
                </a:solidFill>
              </a:rPr>
              <a:t>Decisions live in a chat log</a:t>
            </a:r>
            <a:endParaRPr lang="en-US" sz="1200" dirty="0"/>
          </a:p>
        </p:txBody>
      </p:sp>
      <p:sp>
        <p:nvSpPr>
          <p:cNvPr id="8" name="icon-bg-FaDice"/>
          <p:cNvSpPr/>
          <p:nvPr/>
        </p:nvSpPr>
        <p:spPr>
          <a:xfrm>
            <a:off x="3246120" y="4069080"/>
            <a:ext cx="457200" cy="457200"/>
          </a:xfrm>
          <a:prstGeom prst="ellipse">
            <a:avLst/>
          </a:prstGeom>
          <a:solidFill>
            <a:schemeClr val="accent2"/>
          </a:solidFill>
          <a:ln w="12700">
            <a:solidFill>
              <a:schemeClr val="accent2"/>
            </a:solidFill>
            <a:prstDash val="solid"/>
          </a:ln>
        </p:spPr>
      </p:sp>
      <p:pic>
        <p:nvPicPr>
          <p:cNvPr id="9" name="icon-FaDice" descr="preencoded.png">    </p:cNvPr>
          <p:cNvPicPr>
            <a:picLocks noChangeAspect="1"/>
          </p:cNvPicPr>
          <p:nvPr/>
        </p:nvPicPr>
        <p:blipFill>
          <a:blip r:embed="rId3"/>
          <a:stretch>
            <a:fillRect/>
          </a:stretch>
        </p:blipFill>
        <p:spPr>
          <a:xfrm>
            <a:off x="3360420" y="4183380"/>
            <a:ext cx="228600" cy="228600"/>
          </a:xfrm>
          <a:prstGeom prst="rect">
            <a:avLst/>
          </a:prstGeom>
        </p:spPr>
      </p:pic>
      <p:sp>
        <p:nvSpPr>
          <p:cNvPr id="10" name="Text 5"/>
          <p:cNvSpPr txBox="1"/>
          <p:nvPr/>
        </p:nvSpPr>
        <p:spPr>
          <a:xfrm>
            <a:off x="3813048" y="4041648"/>
            <a:ext cx="2148840" cy="274320"/>
          </a:xfrm>
          <a:prstGeom prst="rect">
            <a:avLst/>
          </a:prstGeom>
          <a:noFill/>
          <a:ln/>
        </p:spPr>
        <p:txBody>
          <a:bodyPr wrap="square" lIns="0" tIns="0" rIns="0" bIns="0" rtlCol="0" anchor="ctr"/>
          <a:lstStyle/>
          <a:p>
            <a:pPr indent="0" marL="0">
              <a:buNone/>
            </a:pPr>
            <a:r>
              <a:rPr lang="en-US" sz="1500" b="1" dirty="0">
                <a:solidFill>
                  <a:schemeClr val="tx1"/>
                </a:solidFill>
              </a:rPr>
              <a:t>The agent guesses</a:t>
            </a:r>
            <a:endParaRPr lang="en-US" sz="1500" dirty="0"/>
          </a:p>
        </p:txBody>
      </p:sp>
      <p:sp>
        <p:nvSpPr>
          <p:cNvPr id="11" name="Text 6"/>
          <p:cNvSpPr txBox="1"/>
          <p:nvPr/>
        </p:nvSpPr>
        <p:spPr>
          <a:xfrm>
            <a:off x="3813048" y="4315968"/>
            <a:ext cx="2148840" cy="274320"/>
          </a:xfrm>
          <a:prstGeom prst="rect">
            <a:avLst/>
          </a:prstGeom>
          <a:noFill/>
          <a:ln/>
        </p:spPr>
        <p:txBody>
          <a:bodyPr wrap="square" lIns="0" tIns="0" rIns="0" bIns="0" rtlCol="0" anchor="ctr"/>
          <a:lstStyle/>
          <a:p>
            <a:pPr indent="0" marL="0">
              <a:buNone/>
            </a:pPr>
            <a:r>
              <a:rPr lang="en-US" sz="1200" dirty="0">
                <a:solidFill>
                  <a:schemeClr val="accent6"/>
                </a:solidFill>
              </a:rPr>
              <a:t>Gaps get filled with defaults</a:t>
            </a:r>
            <a:endParaRPr lang="en-US" sz="1200" dirty="0"/>
          </a:p>
        </p:txBody>
      </p:sp>
      <p:sp>
        <p:nvSpPr>
          <p:cNvPr id="12" name="icon-bg-FaEyeSlash"/>
          <p:cNvSpPr/>
          <p:nvPr/>
        </p:nvSpPr>
        <p:spPr>
          <a:xfrm>
            <a:off x="6035040" y="4069080"/>
            <a:ext cx="457200" cy="457200"/>
          </a:xfrm>
          <a:prstGeom prst="ellipse">
            <a:avLst/>
          </a:prstGeom>
          <a:solidFill>
            <a:schemeClr val="accent2"/>
          </a:solidFill>
          <a:ln w="12700">
            <a:solidFill>
              <a:schemeClr val="accent2"/>
            </a:solidFill>
            <a:prstDash val="solid"/>
          </a:ln>
        </p:spPr>
      </p:sp>
      <p:pic>
        <p:nvPicPr>
          <p:cNvPr id="13" name="icon-FaEyeSlash" descr="preencoded.png">    </p:cNvPr>
          <p:cNvPicPr>
            <a:picLocks noChangeAspect="1"/>
          </p:cNvPicPr>
          <p:nvPr/>
        </p:nvPicPr>
        <p:blipFill>
          <a:blip r:embed="rId4"/>
          <a:stretch>
            <a:fillRect/>
          </a:stretch>
        </p:blipFill>
        <p:spPr>
          <a:xfrm>
            <a:off x="6149340" y="4183380"/>
            <a:ext cx="228600" cy="228600"/>
          </a:xfrm>
          <a:prstGeom prst="rect">
            <a:avLst/>
          </a:prstGeom>
        </p:spPr>
      </p:pic>
      <p:sp>
        <p:nvSpPr>
          <p:cNvPr id="14" name="Text 8"/>
          <p:cNvSpPr txBox="1"/>
          <p:nvPr/>
        </p:nvSpPr>
        <p:spPr>
          <a:xfrm>
            <a:off x="6601968" y="4041648"/>
            <a:ext cx="2148840" cy="274320"/>
          </a:xfrm>
          <a:prstGeom prst="rect">
            <a:avLst/>
          </a:prstGeom>
          <a:noFill/>
          <a:ln/>
        </p:spPr>
        <p:txBody>
          <a:bodyPr wrap="square" lIns="0" tIns="0" rIns="0" bIns="0" rtlCol="0" anchor="ctr"/>
          <a:lstStyle/>
          <a:p>
            <a:pPr indent="0" marL="0">
              <a:buNone/>
            </a:pPr>
            <a:r>
              <a:rPr lang="en-US" sz="1500" b="1" dirty="0">
                <a:solidFill>
                  <a:schemeClr val="tx1"/>
                </a:solidFill>
              </a:rPr>
              <a:t>No audit trail</a:t>
            </a:r>
            <a:endParaRPr lang="en-US" sz="1500" dirty="0"/>
          </a:p>
        </p:txBody>
      </p:sp>
      <p:sp>
        <p:nvSpPr>
          <p:cNvPr id="15" name="Text 9"/>
          <p:cNvSpPr txBox="1"/>
          <p:nvPr/>
        </p:nvSpPr>
        <p:spPr>
          <a:xfrm>
            <a:off x="6601968" y="4315968"/>
            <a:ext cx="2148840" cy="274320"/>
          </a:xfrm>
          <a:prstGeom prst="rect">
            <a:avLst/>
          </a:prstGeom>
          <a:noFill/>
          <a:ln/>
        </p:spPr>
        <p:txBody>
          <a:bodyPr wrap="square" lIns="0" tIns="0" rIns="0" bIns="0" rtlCol="0" anchor="ctr"/>
          <a:lstStyle/>
          <a:p>
            <a:pPr indent="0" marL="0">
              <a:buNone/>
            </a:pPr>
            <a:r>
              <a:rPr lang="en-US" sz="1200" dirty="0">
                <a:solidFill>
                  <a:schemeClr val="accent6"/>
                </a:solidFill>
              </a:rPr>
              <a:t>Why does this code exist?</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SDD flips the source of truth</a:t>
            </a:r>
            <a:endParaRPr lang="en-US" sz="3200" dirty="0"/>
          </a:p>
        </p:txBody>
      </p:sp>
      <p:sp>
        <p:nvSpPr>
          <p:cNvPr id="3" name="card"/>
          <p:cNvSpPr/>
          <p:nvPr/>
        </p:nvSpPr>
        <p:spPr>
          <a:xfrm>
            <a:off x="457200" y="1234440"/>
            <a:ext cx="3840480" cy="3200400"/>
          </a:xfrm>
          <a:prstGeom prst="roundRect">
            <a:avLst>
              <a:gd name="adj" fmla="val 3429"/>
            </a:avLst>
          </a:prstGeom>
          <a:solidFill>
            <a:schemeClr val="bg2"/>
          </a:solidFill>
          <a:ln w="12700">
            <a:solidFill>
              <a:schemeClr val="bg2"/>
            </a:solidFill>
            <a:prstDash val="solid"/>
          </a:ln>
        </p:spPr>
      </p:sp>
      <p:sp>
        <p:nvSpPr>
          <p:cNvPr id="4" name="card"/>
          <p:cNvSpPr/>
          <p:nvPr/>
        </p:nvSpPr>
        <p:spPr>
          <a:xfrm>
            <a:off x="4846320" y="1234440"/>
            <a:ext cx="3840480" cy="3200400"/>
          </a:xfrm>
          <a:prstGeom prst="roundRect">
            <a:avLst>
              <a:gd name="adj" fmla="val 3429"/>
            </a:avLst>
          </a:prstGeom>
          <a:solidFill>
            <a:srgbClr val="E3F4EB"/>
          </a:solidFill>
          <a:ln w="12700">
            <a:solidFill>
              <a:srgbClr val="E3F4EB"/>
            </a:solidFill>
            <a:prstDash val="solid"/>
          </a:ln>
        </p:spPr>
      </p:sp>
      <p:sp>
        <p:nvSpPr>
          <p:cNvPr id="5" name="icon-bg-FaCode"/>
          <p:cNvSpPr/>
          <p:nvPr/>
        </p:nvSpPr>
        <p:spPr>
          <a:xfrm>
            <a:off x="731520" y="1463040"/>
            <a:ext cx="548640" cy="548640"/>
          </a:xfrm>
          <a:prstGeom prst="ellipse">
            <a:avLst/>
          </a:prstGeom>
          <a:solidFill>
            <a:schemeClr val="accent6"/>
          </a:solidFill>
          <a:ln w="12700">
            <a:solidFill>
              <a:schemeClr val="accent6"/>
            </a:solidFill>
            <a:prstDash val="solid"/>
          </a:ln>
        </p:spPr>
      </p:sp>
      <p:pic>
        <p:nvPicPr>
          <p:cNvPr id="6" name="icon-FaCode" descr="preencoded.png">    </p:cNvPr>
          <p:cNvPicPr>
            <a:picLocks noChangeAspect="1"/>
          </p:cNvPicPr>
          <p:nvPr/>
        </p:nvPicPr>
        <p:blipFill>
          <a:blip r:embed="rId1"/>
          <a:stretch>
            <a:fillRect/>
          </a:stretch>
        </p:blipFill>
        <p:spPr>
          <a:xfrm>
            <a:off x="868680" y="1600200"/>
            <a:ext cx="274320" cy="274320"/>
          </a:xfrm>
          <a:prstGeom prst="rect">
            <a:avLst/>
          </a:prstGeom>
        </p:spPr>
      </p:pic>
      <p:sp>
        <p:nvSpPr>
          <p:cNvPr id="7" name="icon-bg-FaFileSignature"/>
          <p:cNvSpPr/>
          <p:nvPr/>
        </p:nvSpPr>
        <p:spPr>
          <a:xfrm>
            <a:off x="5120640" y="1463040"/>
            <a:ext cx="548640" cy="548640"/>
          </a:xfrm>
          <a:prstGeom prst="ellipse">
            <a:avLst/>
          </a:prstGeom>
          <a:solidFill>
            <a:schemeClr val="accent1"/>
          </a:solidFill>
          <a:ln w="12700">
            <a:solidFill>
              <a:schemeClr val="accent1"/>
            </a:solidFill>
            <a:prstDash val="solid"/>
          </a:ln>
        </p:spPr>
      </p:sp>
      <p:pic>
        <p:nvPicPr>
          <p:cNvPr id="8" name="icon-FaFileSignature" descr="preencoded.png">    </p:cNvPr>
          <p:cNvPicPr>
            <a:picLocks noChangeAspect="1"/>
          </p:cNvPicPr>
          <p:nvPr/>
        </p:nvPicPr>
        <p:blipFill>
          <a:blip r:embed="rId2"/>
          <a:stretch>
            <a:fillRect/>
          </a:stretch>
        </p:blipFill>
        <p:spPr>
          <a:xfrm>
            <a:off x="5257800" y="1600200"/>
            <a:ext cx="274320" cy="274320"/>
          </a:xfrm>
          <a:prstGeom prst="rect">
            <a:avLst/>
          </a:prstGeom>
        </p:spPr>
      </p:pic>
      <p:sp>
        <p:nvSpPr>
          <p:cNvPr id="9" name="Text 5"/>
          <p:cNvSpPr txBox="1"/>
          <p:nvPr/>
        </p:nvSpPr>
        <p:spPr>
          <a:xfrm>
            <a:off x="1417320" y="1508760"/>
            <a:ext cx="2743200" cy="457200"/>
          </a:xfrm>
          <a:prstGeom prst="rect">
            <a:avLst/>
          </a:prstGeom>
          <a:noFill/>
          <a:ln/>
        </p:spPr>
        <p:txBody>
          <a:bodyPr wrap="square" lIns="0" tIns="0" rIns="0" bIns="0" rtlCol="0" anchor="ctr"/>
          <a:lstStyle/>
          <a:p>
            <a:pPr indent="0" marL="0">
              <a:buNone/>
            </a:pPr>
            <a:r>
              <a:rPr lang="en-US" sz="2200" b="1" dirty="0">
                <a:solidFill>
                  <a:schemeClr val="tx1"/>
                </a:solidFill>
              </a:rPr>
              <a:t>Code-first</a:t>
            </a:r>
            <a:endParaRPr lang="en-US" sz="2200" dirty="0"/>
          </a:p>
        </p:txBody>
      </p:sp>
      <p:sp>
        <p:nvSpPr>
          <p:cNvPr id="10" name="Text 6"/>
          <p:cNvSpPr txBox="1"/>
          <p:nvPr/>
        </p:nvSpPr>
        <p:spPr>
          <a:xfrm>
            <a:off x="5806440" y="1508760"/>
            <a:ext cx="2743200" cy="457200"/>
          </a:xfrm>
          <a:prstGeom prst="rect">
            <a:avLst/>
          </a:prstGeom>
          <a:noFill/>
          <a:ln/>
        </p:spPr>
        <p:txBody>
          <a:bodyPr wrap="square" lIns="0" tIns="0" rIns="0" bIns="0" rtlCol="0" anchor="ctr"/>
          <a:lstStyle/>
          <a:p>
            <a:pPr indent="0" marL="0">
              <a:buNone/>
            </a:pPr>
            <a:r>
              <a:rPr lang="en-US" sz="2200" b="1" dirty="0">
                <a:solidFill>
                  <a:schemeClr val="tx1"/>
                </a:solidFill>
              </a:rPr>
              <a:t>Spec-first</a:t>
            </a:r>
            <a:endParaRPr lang="en-US" sz="2200" dirty="0"/>
          </a:p>
        </p:txBody>
      </p:sp>
      <p:sp>
        <p:nvSpPr>
          <p:cNvPr id="11" name="bullets"/>
          <p:cNvSpPr txBox="1"/>
          <p:nvPr/>
        </p:nvSpPr>
        <p:spPr>
          <a:xfrm>
            <a:off x="777240" y="2286000"/>
            <a:ext cx="3291840" cy="2011680"/>
          </a:xfrm>
          <a:prstGeom prst="rect">
            <a:avLst/>
          </a:prstGeom>
          <a:noFill/>
          <a:ln/>
        </p:spPr>
        <p:txBody>
          <a:bodyPr wrap="square" lIns="0" tIns="0" rIns="0" bIns="0" rtlCol="0" anchor="t"/>
          <a:lstStyle/>
          <a:p>
            <a:pPr marL="190500" indent="-190500">
              <a:spcAft>
                <a:spcPts val="1000"/>
              </a:spcAft>
              <a:buSzPct val="100000"/>
              <a:buChar char="•"/>
            </a:pPr>
            <a:r>
              <a:rPr lang="en-US" sz="1500" dirty="0">
                <a:solidFill>
                  <a:schemeClr val="tx2"/>
                </a:solidFill>
              </a:rPr>
              <a:t>Code is the truth</a:t>
            </a:r>
            <a:endParaRPr lang="en-US" sz="1500" dirty="0"/>
          </a:p>
          <a:p>
            <a:pPr marL="190500" indent="-190500">
              <a:spcAft>
                <a:spcPts val="1000"/>
              </a:spcAft>
              <a:buSzPct val="100000"/>
              <a:buChar char="•"/>
            </a:pPr>
            <a:r>
              <a:rPr lang="en-US" sz="1500" dirty="0">
                <a:solidFill>
                  <a:schemeClr val="tx2"/>
                </a:solidFill>
              </a:rPr>
              <a:t>Docs written after — then rot</a:t>
            </a:r>
            <a:endParaRPr lang="en-US" sz="1500" dirty="0"/>
          </a:p>
          <a:p>
            <a:pPr marL="190500" indent="-190500">
              <a:spcAft>
                <a:spcPts val="1000"/>
              </a:spcAft>
              <a:buSzPct val="100000"/>
              <a:buChar char="•"/>
            </a:pPr>
            <a:r>
              <a:rPr lang="en-US" sz="1500" dirty="0">
                <a:solidFill>
                  <a:schemeClr val="tx2"/>
                </a:solidFill>
              </a:rPr>
              <a:t>Prompts are disposable</a:t>
            </a:r>
            <a:endParaRPr lang="en-US" sz="1500" dirty="0"/>
          </a:p>
          <a:p>
            <a:pPr marL="190500" indent="-190500">
              <a:spcAft>
                <a:spcPts val="1000"/>
              </a:spcAft>
              <a:buSzPct val="100000"/>
              <a:buChar char="•"/>
            </a:pPr>
            <a:r>
              <a:rPr lang="en-US" sz="1500" dirty="0">
                <a:solidFill>
                  <a:schemeClr val="tx2"/>
                </a:solidFill>
              </a:rPr>
              <a:t>Review = read the diff</a:t>
            </a:r>
            <a:endParaRPr lang="en-US" sz="1500" dirty="0"/>
          </a:p>
        </p:txBody>
      </p:sp>
      <p:sp>
        <p:nvSpPr>
          <p:cNvPr id="12" name="bullets"/>
          <p:cNvSpPr txBox="1"/>
          <p:nvPr/>
        </p:nvSpPr>
        <p:spPr>
          <a:xfrm>
            <a:off x="5166360" y="2286000"/>
            <a:ext cx="3291840" cy="2011680"/>
          </a:xfrm>
          <a:prstGeom prst="rect">
            <a:avLst/>
          </a:prstGeom>
          <a:noFill/>
          <a:ln/>
        </p:spPr>
        <p:txBody>
          <a:bodyPr wrap="square" lIns="0" tIns="0" rIns="0" bIns="0" rtlCol="0" anchor="t"/>
          <a:lstStyle/>
          <a:p>
            <a:pPr marL="190500" indent="-190500">
              <a:spcAft>
                <a:spcPts val="1000"/>
              </a:spcAft>
              <a:buSzPct val="100000"/>
              <a:buChar char="•"/>
            </a:pPr>
            <a:r>
              <a:rPr lang="en-US" sz="1500" dirty="0">
                <a:solidFill>
                  <a:schemeClr val="tx2"/>
                </a:solidFill>
              </a:rPr>
              <a:t>Spec is the truth</a:t>
            </a:r>
            <a:endParaRPr lang="en-US" sz="1500" dirty="0"/>
          </a:p>
          <a:p>
            <a:pPr marL="190500" indent="-190500">
              <a:spcAft>
                <a:spcPts val="1000"/>
              </a:spcAft>
              <a:buSzPct val="100000"/>
              <a:buChar char="•"/>
            </a:pPr>
            <a:r>
              <a:rPr lang="en-US" sz="1500" dirty="0">
                <a:solidFill>
                  <a:schemeClr val="tx2"/>
                </a:solidFill>
              </a:rPr>
              <a:t>Code is a regenerable output</a:t>
            </a:r>
            <a:endParaRPr lang="en-US" sz="1500" dirty="0"/>
          </a:p>
          <a:p>
            <a:pPr marL="190500" indent="-190500">
              <a:spcAft>
                <a:spcPts val="1000"/>
              </a:spcAft>
              <a:buSzPct val="100000"/>
              <a:buChar char="•"/>
            </a:pPr>
            <a:r>
              <a:rPr lang="en-US" sz="1500" dirty="0">
                <a:solidFill>
                  <a:schemeClr val="tx2"/>
                </a:solidFill>
              </a:rPr>
              <a:t>Prompts become versioned artifacts</a:t>
            </a:r>
            <a:endParaRPr lang="en-US" sz="1500" dirty="0"/>
          </a:p>
          <a:p>
            <a:pPr marL="190500" indent="-190500">
              <a:spcAft>
                <a:spcPts val="1000"/>
              </a:spcAft>
              <a:buSzPct val="100000"/>
              <a:buChar char="•"/>
            </a:pPr>
            <a:r>
              <a:rPr lang="en-US" sz="1500" dirty="0">
                <a:solidFill>
                  <a:schemeClr val="tx2"/>
                </a:solidFill>
              </a:rPr>
              <a:t>Review = read the intent</a:t>
            </a:r>
            <a:endParaRPr lang="en-US" sz="1500" dirty="0"/>
          </a:p>
        </p:txBody>
      </p:sp>
      <p:sp>
        <p:nvSpPr>
          <p:cNvPr id="13" name="icon-bg-FaArrowRight"/>
          <p:cNvSpPr/>
          <p:nvPr/>
        </p:nvSpPr>
        <p:spPr>
          <a:xfrm>
            <a:off x="4315968" y="2606040"/>
            <a:ext cx="512064" cy="512064"/>
          </a:xfrm>
          <a:prstGeom prst="ellipse">
            <a:avLst/>
          </a:prstGeom>
          <a:solidFill>
            <a:schemeClr val="accent2"/>
          </a:solidFill>
          <a:ln w="12700">
            <a:solidFill>
              <a:schemeClr val="accent2"/>
            </a:solidFill>
            <a:prstDash val="solid"/>
          </a:ln>
        </p:spPr>
      </p:sp>
      <p:pic>
        <p:nvPicPr>
          <p:cNvPr id="14" name="icon-FaArrowRight" descr="preencoded.png">    </p:cNvPr>
          <p:cNvPicPr>
            <a:picLocks noChangeAspect="1"/>
          </p:cNvPicPr>
          <p:nvPr/>
        </p:nvPicPr>
        <p:blipFill>
          <a:blip r:embed="rId3"/>
          <a:stretch>
            <a:fillRect/>
          </a:stretch>
        </p:blipFill>
        <p:spPr>
          <a:xfrm>
            <a:off x="4443984" y="2734056"/>
            <a:ext cx="256032" cy="256032"/>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Three levels of spec-driven</a:t>
            </a:r>
            <a:endParaRPr lang="en-US" sz="3200" dirty="0"/>
          </a:p>
        </p:txBody>
      </p:sp>
      <p:sp>
        <p:nvSpPr>
          <p:cNvPr id="3" name="card"/>
          <p:cNvSpPr/>
          <p:nvPr/>
        </p:nvSpPr>
        <p:spPr>
          <a:xfrm>
            <a:off x="457200" y="1234440"/>
            <a:ext cx="2606040" cy="2743200"/>
          </a:xfrm>
          <a:prstGeom prst="roundRect">
            <a:avLst>
              <a:gd name="adj" fmla="val 4211"/>
            </a:avLst>
          </a:prstGeom>
          <a:solidFill>
            <a:schemeClr val="bg2"/>
          </a:solidFill>
          <a:ln w="12700">
            <a:solidFill>
              <a:schemeClr val="bg2"/>
            </a:solidFill>
            <a:prstDash val="solid"/>
          </a:ln>
        </p:spPr>
      </p:sp>
      <p:sp>
        <p:nvSpPr>
          <p:cNvPr id="4" name="icon-bg-FaPencilRuler"/>
          <p:cNvSpPr/>
          <p:nvPr/>
        </p:nvSpPr>
        <p:spPr>
          <a:xfrm>
            <a:off x="731520" y="1463040"/>
            <a:ext cx="640080" cy="640080"/>
          </a:xfrm>
          <a:prstGeom prst="ellipse">
            <a:avLst/>
          </a:prstGeom>
          <a:solidFill>
            <a:schemeClr val="accent3"/>
          </a:solidFill>
          <a:ln w="12700">
            <a:solidFill>
              <a:schemeClr val="accent3"/>
            </a:solidFill>
            <a:prstDash val="solid"/>
          </a:ln>
        </p:spPr>
      </p:sp>
      <p:pic>
        <p:nvPicPr>
          <p:cNvPr id="5" name="icon-FaPencilRuler" descr="preencoded.png">    </p:cNvPr>
          <p:cNvPicPr>
            <a:picLocks noChangeAspect="1"/>
          </p:cNvPicPr>
          <p:nvPr/>
        </p:nvPicPr>
        <p:blipFill>
          <a:blip r:embed="rId1"/>
          <a:stretch>
            <a:fillRect/>
          </a:stretch>
        </p:blipFill>
        <p:spPr>
          <a:xfrm>
            <a:off x="891540" y="1623060"/>
            <a:ext cx="320040" cy="320040"/>
          </a:xfrm>
          <a:prstGeom prst="rect">
            <a:avLst/>
          </a:prstGeom>
        </p:spPr>
      </p:pic>
      <p:sp>
        <p:nvSpPr>
          <p:cNvPr id="6" name="Text 3"/>
          <p:cNvSpPr txBox="1"/>
          <p:nvPr/>
        </p:nvSpPr>
        <p:spPr>
          <a:xfrm>
            <a:off x="1508760" y="1536192"/>
            <a:ext cx="1463040" cy="228600"/>
          </a:xfrm>
          <a:prstGeom prst="rect">
            <a:avLst/>
          </a:prstGeom>
          <a:noFill/>
          <a:ln/>
        </p:spPr>
        <p:txBody>
          <a:bodyPr wrap="square" lIns="0" tIns="0" rIns="0" bIns="0" rtlCol="0" anchor="ctr"/>
          <a:lstStyle/>
          <a:p>
            <a:pPr indent="0" marL="0">
              <a:buNone/>
            </a:pPr>
            <a:r>
              <a:rPr lang="en-US" sz="1100" b="1" spc="200" kern="0" dirty="0">
                <a:solidFill>
                  <a:schemeClr val="accent6"/>
                </a:solidFill>
              </a:rPr>
              <a:t>LEVEL 1</a:t>
            </a:r>
            <a:endParaRPr lang="en-US" sz="1100" dirty="0"/>
          </a:p>
        </p:txBody>
      </p:sp>
      <p:sp>
        <p:nvSpPr>
          <p:cNvPr id="7" name="Text 4"/>
          <p:cNvSpPr txBox="1"/>
          <p:nvPr/>
        </p:nvSpPr>
        <p:spPr>
          <a:xfrm>
            <a:off x="1508760" y="1764792"/>
            <a:ext cx="1508760" cy="365760"/>
          </a:xfrm>
          <a:prstGeom prst="rect">
            <a:avLst/>
          </a:prstGeom>
          <a:noFill/>
          <a:ln/>
        </p:spPr>
        <p:txBody>
          <a:bodyPr wrap="square" lIns="0" tIns="0" rIns="0" bIns="0" rtlCol="0" anchor="ctr"/>
          <a:lstStyle/>
          <a:p>
            <a:pPr indent="0" marL="0">
              <a:buNone/>
            </a:pPr>
            <a:r>
              <a:rPr lang="en-US" sz="1800" b="1" dirty="0">
                <a:solidFill>
                  <a:schemeClr val="tx1"/>
                </a:solidFill>
              </a:rPr>
              <a:t>Spec-first</a:t>
            </a:r>
            <a:endParaRPr lang="en-US" sz="1800" dirty="0"/>
          </a:p>
        </p:txBody>
      </p:sp>
      <p:sp>
        <p:nvSpPr>
          <p:cNvPr id="8" name="Text 5"/>
          <p:cNvSpPr txBox="1"/>
          <p:nvPr/>
        </p:nvSpPr>
        <p:spPr>
          <a:xfrm>
            <a:off x="731520" y="2331720"/>
            <a:ext cx="2103120" cy="914400"/>
          </a:xfrm>
          <a:prstGeom prst="rect">
            <a:avLst/>
          </a:prstGeom>
          <a:noFill/>
          <a:ln/>
        </p:spPr>
        <p:txBody>
          <a:bodyPr wrap="square" lIns="0" tIns="0" rIns="0" bIns="0" rtlCol="0" anchor="t"/>
          <a:lstStyle/>
          <a:p>
            <a:pPr indent="0" marL="0">
              <a:buNone/>
            </a:pPr>
            <a:r>
              <a:rPr lang="en-US" sz="1500" dirty="0">
                <a:solidFill>
                  <a:schemeClr val="tx2"/>
                </a:solidFill>
              </a:rPr>
              <a:t>Write the spec before coding; use it to guide one task.</a:t>
            </a:r>
            <a:endParaRPr lang="en-US" sz="1500" dirty="0"/>
          </a:p>
        </p:txBody>
      </p:sp>
      <p:sp>
        <p:nvSpPr>
          <p:cNvPr id="9" name="Text 6"/>
          <p:cNvSpPr txBox="1"/>
          <p:nvPr/>
        </p:nvSpPr>
        <p:spPr>
          <a:xfrm>
            <a:off x="731520" y="3429000"/>
            <a:ext cx="2103120" cy="365760"/>
          </a:xfrm>
          <a:prstGeom prst="rect">
            <a:avLst/>
          </a:prstGeom>
          <a:noFill/>
          <a:ln/>
        </p:spPr>
        <p:txBody>
          <a:bodyPr wrap="square" lIns="0" tIns="0" rIns="0" bIns="0" rtlCol="0" anchor="t"/>
          <a:lstStyle/>
          <a:p>
            <a:pPr indent="0" marL="0">
              <a:buNone/>
            </a:pPr>
            <a:r>
              <a:rPr lang="en-US" sz="1300" i="1" dirty="0">
                <a:solidFill>
                  <a:schemeClr val="accent3"/>
                </a:solidFill>
              </a:rPr>
              <a:t>Spec may be thrown away after</a:t>
            </a:r>
            <a:endParaRPr lang="en-US" sz="1300" dirty="0"/>
          </a:p>
        </p:txBody>
      </p:sp>
      <p:sp>
        <p:nvSpPr>
          <p:cNvPr id="10" name="card"/>
          <p:cNvSpPr/>
          <p:nvPr/>
        </p:nvSpPr>
        <p:spPr>
          <a:xfrm>
            <a:off x="3246120" y="1234440"/>
            <a:ext cx="2606040" cy="2743200"/>
          </a:xfrm>
          <a:prstGeom prst="roundRect">
            <a:avLst>
              <a:gd name="adj" fmla="val 4211"/>
            </a:avLst>
          </a:prstGeom>
          <a:solidFill>
            <a:schemeClr val="bg2"/>
          </a:solidFill>
          <a:ln w="12700">
            <a:solidFill>
              <a:schemeClr val="bg2"/>
            </a:solidFill>
            <a:prstDash val="solid"/>
          </a:ln>
        </p:spPr>
      </p:sp>
      <p:sp>
        <p:nvSpPr>
          <p:cNvPr id="11" name="icon-bg-FaAnchor"/>
          <p:cNvSpPr/>
          <p:nvPr/>
        </p:nvSpPr>
        <p:spPr>
          <a:xfrm>
            <a:off x="3520440" y="1463040"/>
            <a:ext cx="640080" cy="640080"/>
          </a:xfrm>
          <a:prstGeom prst="ellipse">
            <a:avLst/>
          </a:prstGeom>
          <a:solidFill>
            <a:schemeClr val="accent1"/>
          </a:solidFill>
          <a:ln w="12700">
            <a:solidFill>
              <a:schemeClr val="accent1"/>
            </a:solidFill>
            <a:prstDash val="solid"/>
          </a:ln>
        </p:spPr>
      </p:sp>
      <p:pic>
        <p:nvPicPr>
          <p:cNvPr id="12" name="icon-FaAnchor" descr="preencoded.png">    </p:cNvPr>
          <p:cNvPicPr>
            <a:picLocks noChangeAspect="1"/>
          </p:cNvPicPr>
          <p:nvPr/>
        </p:nvPicPr>
        <p:blipFill>
          <a:blip r:embed="rId2"/>
          <a:stretch>
            <a:fillRect/>
          </a:stretch>
        </p:blipFill>
        <p:spPr>
          <a:xfrm>
            <a:off x="3680460" y="1623060"/>
            <a:ext cx="320040" cy="320040"/>
          </a:xfrm>
          <a:prstGeom prst="rect">
            <a:avLst/>
          </a:prstGeom>
        </p:spPr>
      </p:pic>
      <p:sp>
        <p:nvSpPr>
          <p:cNvPr id="13" name="Text 9"/>
          <p:cNvSpPr txBox="1"/>
          <p:nvPr/>
        </p:nvSpPr>
        <p:spPr>
          <a:xfrm>
            <a:off x="4297680" y="1536192"/>
            <a:ext cx="1463040" cy="228600"/>
          </a:xfrm>
          <a:prstGeom prst="rect">
            <a:avLst/>
          </a:prstGeom>
          <a:noFill/>
          <a:ln/>
        </p:spPr>
        <p:txBody>
          <a:bodyPr wrap="square" lIns="0" tIns="0" rIns="0" bIns="0" rtlCol="0" anchor="ctr"/>
          <a:lstStyle/>
          <a:p>
            <a:pPr indent="0" marL="0">
              <a:buNone/>
            </a:pPr>
            <a:r>
              <a:rPr lang="en-US" sz="1100" b="1" spc="200" kern="0" dirty="0">
                <a:solidFill>
                  <a:schemeClr val="accent6"/>
                </a:solidFill>
              </a:rPr>
              <a:t>LEVEL 2</a:t>
            </a:r>
            <a:endParaRPr lang="en-US" sz="1100" dirty="0"/>
          </a:p>
        </p:txBody>
      </p:sp>
      <p:sp>
        <p:nvSpPr>
          <p:cNvPr id="14" name="Text 10"/>
          <p:cNvSpPr txBox="1"/>
          <p:nvPr/>
        </p:nvSpPr>
        <p:spPr>
          <a:xfrm>
            <a:off x="4297680" y="1764792"/>
            <a:ext cx="1508760" cy="365760"/>
          </a:xfrm>
          <a:prstGeom prst="rect">
            <a:avLst/>
          </a:prstGeom>
          <a:noFill/>
          <a:ln/>
        </p:spPr>
        <p:txBody>
          <a:bodyPr wrap="square" lIns="0" tIns="0" rIns="0" bIns="0" rtlCol="0" anchor="ctr"/>
          <a:lstStyle/>
          <a:p>
            <a:pPr indent="0" marL="0">
              <a:buNone/>
            </a:pPr>
            <a:r>
              <a:rPr lang="en-US" sz="1800" b="1" dirty="0">
                <a:solidFill>
                  <a:schemeClr val="tx1"/>
                </a:solidFill>
              </a:rPr>
              <a:t>Spec-anchored</a:t>
            </a:r>
            <a:endParaRPr lang="en-US" sz="1800" dirty="0"/>
          </a:p>
        </p:txBody>
      </p:sp>
      <p:sp>
        <p:nvSpPr>
          <p:cNvPr id="15" name="Text 11"/>
          <p:cNvSpPr txBox="1"/>
          <p:nvPr/>
        </p:nvSpPr>
        <p:spPr>
          <a:xfrm>
            <a:off x="3520440" y="2331720"/>
            <a:ext cx="2103120" cy="914400"/>
          </a:xfrm>
          <a:prstGeom prst="rect">
            <a:avLst/>
          </a:prstGeom>
          <a:noFill/>
          <a:ln/>
        </p:spPr>
        <p:txBody>
          <a:bodyPr wrap="square" lIns="0" tIns="0" rIns="0" bIns="0" rtlCol="0" anchor="t"/>
          <a:lstStyle/>
          <a:p>
            <a:pPr indent="0" marL="0">
              <a:buNone/>
            </a:pPr>
            <a:r>
              <a:rPr lang="en-US" sz="1500" dirty="0">
                <a:solidFill>
                  <a:schemeClr val="tx2"/>
                </a:solidFill>
              </a:rPr>
              <a:t>Keep the spec and evolve it with the feature for its whole life.</a:t>
            </a:r>
            <a:endParaRPr lang="en-US" sz="1500" dirty="0"/>
          </a:p>
        </p:txBody>
      </p:sp>
      <p:sp>
        <p:nvSpPr>
          <p:cNvPr id="16" name="Text 12"/>
          <p:cNvSpPr txBox="1"/>
          <p:nvPr/>
        </p:nvSpPr>
        <p:spPr>
          <a:xfrm>
            <a:off x="3520440" y="3429000"/>
            <a:ext cx="2103120" cy="365760"/>
          </a:xfrm>
          <a:prstGeom prst="rect">
            <a:avLst/>
          </a:prstGeom>
          <a:noFill/>
          <a:ln/>
        </p:spPr>
        <p:txBody>
          <a:bodyPr wrap="square" lIns="0" tIns="0" rIns="0" bIns="0" rtlCol="0" anchor="t"/>
          <a:lstStyle/>
          <a:p>
            <a:pPr indent="0" marL="0">
              <a:buNone/>
            </a:pPr>
            <a:r>
              <a:rPr lang="en-US" sz="1300" i="1" dirty="0">
                <a:solidFill>
                  <a:schemeClr val="accent1"/>
                </a:solidFill>
              </a:rPr>
              <a:t>Our demo repo lives here</a:t>
            </a:r>
            <a:endParaRPr lang="en-US" sz="1300" dirty="0"/>
          </a:p>
        </p:txBody>
      </p:sp>
      <p:sp>
        <p:nvSpPr>
          <p:cNvPr id="17" name="card"/>
          <p:cNvSpPr/>
          <p:nvPr/>
        </p:nvSpPr>
        <p:spPr>
          <a:xfrm>
            <a:off x="6035040" y="1234440"/>
            <a:ext cx="2606040" cy="2743200"/>
          </a:xfrm>
          <a:prstGeom prst="roundRect">
            <a:avLst>
              <a:gd name="adj" fmla="val 4211"/>
            </a:avLst>
          </a:prstGeom>
          <a:solidFill>
            <a:schemeClr val="bg2"/>
          </a:solidFill>
          <a:ln w="12700">
            <a:solidFill>
              <a:schemeClr val="bg2"/>
            </a:solidFill>
            <a:prstDash val="solid"/>
          </a:ln>
        </p:spPr>
      </p:sp>
      <p:sp>
        <p:nvSpPr>
          <p:cNvPr id="18" name="icon-bg-FaMagic"/>
          <p:cNvSpPr/>
          <p:nvPr/>
        </p:nvSpPr>
        <p:spPr>
          <a:xfrm>
            <a:off x="6309360" y="1463040"/>
            <a:ext cx="640080" cy="640080"/>
          </a:xfrm>
          <a:prstGeom prst="ellipse">
            <a:avLst/>
          </a:prstGeom>
          <a:solidFill>
            <a:schemeClr val="accent2"/>
          </a:solidFill>
          <a:ln w="12700">
            <a:solidFill>
              <a:schemeClr val="accent2"/>
            </a:solidFill>
            <a:prstDash val="solid"/>
          </a:ln>
        </p:spPr>
      </p:sp>
      <p:pic>
        <p:nvPicPr>
          <p:cNvPr id="19" name="icon-FaMagic" descr="preencoded.png">    </p:cNvPr>
          <p:cNvPicPr>
            <a:picLocks noChangeAspect="1"/>
          </p:cNvPicPr>
          <p:nvPr/>
        </p:nvPicPr>
        <p:blipFill>
          <a:blip r:embed="rId3"/>
          <a:stretch>
            <a:fillRect/>
          </a:stretch>
        </p:blipFill>
        <p:spPr>
          <a:xfrm>
            <a:off x="6469380" y="1623060"/>
            <a:ext cx="320040" cy="320040"/>
          </a:xfrm>
          <a:prstGeom prst="rect">
            <a:avLst/>
          </a:prstGeom>
        </p:spPr>
      </p:pic>
      <p:sp>
        <p:nvSpPr>
          <p:cNvPr id="20" name="Text 15"/>
          <p:cNvSpPr txBox="1"/>
          <p:nvPr/>
        </p:nvSpPr>
        <p:spPr>
          <a:xfrm>
            <a:off x="7086600" y="1536192"/>
            <a:ext cx="1463040" cy="228600"/>
          </a:xfrm>
          <a:prstGeom prst="rect">
            <a:avLst/>
          </a:prstGeom>
          <a:noFill/>
          <a:ln/>
        </p:spPr>
        <p:txBody>
          <a:bodyPr wrap="square" lIns="0" tIns="0" rIns="0" bIns="0" rtlCol="0" anchor="ctr"/>
          <a:lstStyle/>
          <a:p>
            <a:pPr indent="0" marL="0">
              <a:buNone/>
            </a:pPr>
            <a:r>
              <a:rPr lang="en-US" sz="1100" b="1" spc="200" kern="0" dirty="0">
                <a:solidFill>
                  <a:schemeClr val="accent6"/>
                </a:solidFill>
              </a:rPr>
              <a:t>LEVEL 3</a:t>
            </a:r>
            <a:endParaRPr lang="en-US" sz="1100" dirty="0"/>
          </a:p>
        </p:txBody>
      </p:sp>
      <p:sp>
        <p:nvSpPr>
          <p:cNvPr id="21" name="Text 16"/>
          <p:cNvSpPr txBox="1"/>
          <p:nvPr/>
        </p:nvSpPr>
        <p:spPr>
          <a:xfrm>
            <a:off x="7086600" y="1764792"/>
            <a:ext cx="1508760" cy="365760"/>
          </a:xfrm>
          <a:prstGeom prst="rect">
            <a:avLst/>
          </a:prstGeom>
          <a:noFill/>
          <a:ln/>
        </p:spPr>
        <p:txBody>
          <a:bodyPr wrap="square" lIns="0" tIns="0" rIns="0" bIns="0" rtlCol="0" anchor="ctr"/>
          <a:lstStyle/>
          <a:p>
            <a:pPr indent="0" marL="0">
              <a:buNone/>
            </a:pPr>
            <a:r>
              <a:rPr lang="en-US" sz="1800" b="1" dirty="0">
                <a:solidFill>
                  <a:schemeClr val="tx1"/>
                </a:solidFill>
              </a:rPr>
              <a:t>Spec-as-source</a:t>
            </a:r>
            <a:endParaRPr lang="en-US" sz="1800" dirty="0"/>
          </a:p>
        </p:txBody>
      </p:sp>
      <p:sp>
        <p:nvSpPr>
          <p:cNvPr id="22" name="Text 17"/>
          <p:cNvSpPr txBox="1"/>
          <p:nvPr/>
        </p:nvSpPr>
        <p:spPr>
          <a:xfrm>
            <a:off x="6309360" y="2331720"/>
            <a:ext cx="2103120" cy="914400"/>
          </a:xfrm>
          <a:prstGeom prst="rect">
            <a:avLst/>
          </a:prstGeom>
          <a:noFill/>
          <a:ln/>
        </p:spPr>
        <p:txBody>
          <a:bodyPr wrap="square" lIns="0" tIns="0" rIns="0" bIns="0" rtlCol="0" anchor="t"/>
          <a:lstStyle/>
          <a:p>
            <a:pPr indent="0" marL="0">
              <a:buNone/>
            </a:pPr>
            <a:r>
              <a:rPr lang="en-US" sz="1500" dirty="0">
                <a:solidFill>
                  <a:schemeClr val="tx2"/>
                </a:solidFill>
              </a:rPr>
              <a:t>Humans edit only the spec; code is regenerated from it.</a:t>
            </a:r>
            <a:endParaRPr lang="en-US" sz="1500" dirty="0"/>
          </a:p>
        </p:txBody>
      </p:sp>
      <p:sp>
        <p:nvSpPr>
          <p:cNvPr id="23" name="Text 18"/>
          <p:cNvSpPr txBox="1"/>
          <p:nvPr/>
        </p:nvSpPr>
        <p:spPr>
          <a:xfrm>
            <a:off x="6309360" y="3429000"/>
            <a:ext cx="2103120" cy="365760"/>
          </a:xfrm>
          <a:prstGeom prst="rect">
            <a:avLst/>
          </a:prstGeom>
          <a:noFill/>
          <a:ln/>
        </p:spPr>
        <p:txBody>
          <a:bodyPr wrap="square" lIns="0" tIns="0" rIns="0" bIns="0" rtlCol="0" anchor="t"/>
          <a:lstStyle/>
          <a:p>
            <a:pPr indent="0" marL="0">
              <a:buNone/>
            </a:pPr>
            <a:r>
              <a:rPr lang="en-US" sz="1300" i="1" dirty="0">
                <a:solidFill>
                  <a:schemeClr val="accent2"/>
                </a:solidFill>
              </a:rPr>
              <a:t>Ambitious — still emerging</a:t>
            </a:r>
            <a:endParaRPr lang="en-US" sz="1300" dirty="0"/>
          </a:p>
        </p:txBody>
      </p:sp>
      <p:sp>
        <p:nvSpPr>
          <p:cNvPr id="24" name="rigor-arrow"/>
          <p:cNvSpPr/>
          <p:nvPr/>
        </p:nvSpPr>
        <p:spPr>
          <a:xfrm>
            <a:off x="457200" y="4114800"/>
            <a:ext cx="8229600" cy="320040"/>
          </a:xfrm>
          <a:prstGeom prst="rightArrow">
            <a:avLst/>
          </a:prstGeom>
          <a:solidFill>
            <a:srgbClr val="D5E5DC"/>
          </a:solidFill>
          <a:ln w="12700">
            <a:solidFill>
              <a:srgbClr val="D5E5DC"/>
            </a:solidFill>
            <a:prstDash val="solid"/>
          </a:ln>
        </p:spPr>
      </p:sp>
      <p:sp>
        <p:nvSpPr>
          <p:cNvPr id="25" name="Text 20"/>
          <p:cNvSpPr txBox="1"/>
          <p:nvPr/>
        </p:nvSpPr>
        <p:spPr>
          <a:xfrm>
            <a:off x="640080" y="4114800"/>
            <a:ext cx="7680960" cy="320040"/>
          </a:xfrm>
          <a:prstGeom prst="rect">
            <a:avLst/>
          </a:prstGeom>
          <a:noFill/>
          <a:ln/>
        </p:spPr>
        <p:txBody>
          <a:bodyPr wrap="square" lIns="0" tIns="0" rIns="0" bIns="0" rtlCol="0" anchor="ctr"/>
          <a:lstStyle/>
          <a:p>
            <a:pPr indent="0" marL="0">
              <a:buNone/>
            </a:pPr>
            <a:r>
              <a:rPr lang="en-US" sz="1200" dirty="0">
                <a:solidFill>
                  <a:schemeClr val="tx2"/>
                </a:solidFill>
              </a:rPr>
              <a:t>more rigor · more automation · more up-front thinking</a:t>
            </a:r>
            <a:endParaRPr lang="en-US" sz="1200" dirty="0"/>
          </a:p>
        </p:txBody>
      </p:sp>
      <p:sp>
        <p:nvSpPr>
          <p:cNvPr id="26" name="Text 21"/>
          <p:cNvSpPr txBox="1"/>
          <p:nvPr/>
        </p:nvSpPr>
        <p:spPr>
          <a:xfrm>
            <a:off x="5486400" y="4507992"/>
            <a:ext cx="3200400" cy="228600"/>
          </a:xfrm>
          <a:prstGeom prst="rect">
            <a:avLst/>
          </a:prstGeom>
          <a:noFill/>
          <a:ln/>
        </p:spPr>
        <p:txBody>
          <a:bodyPr wrap="square" lIns="0" tIns="0" rIns="0" bIns="0" rtlCol="0" anchor="ctr"/>
          <a:lstStyle/>
          <a:p>
            <a:pPr algn="r" indent="0" marL="0">
              <a:buNone/>
            </a:pPr>
            <a:r>
              <a:rPr lang="en-US" sz="1000" dirty="0">
                <a:solidFill>
                  <a:schemeClr val="accent6"/>
                </a:solidFill>
              </a:rPr>
              <a:t>Levels after Birgitta Böckeler, martinfowler.com</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Anatomy of a good spec</a:t>
            </a:r>
            <a:endParaRPr lang="en-US" sz="3200" dirty="0"/>
          </a:p>
        </p:txBody>
      </p:sp>
      <p:pic>
        <p:nvPicPr>
          <p:cNvPr id="3" name="spec-anatomy" descr="img/spec-doc.png">    </p:cNvPr>
          <p:cNvPicPr>
            <a:picLocks noChangeAspect="1"/>
          </p:cNvPicPr>
          <p:nvPr/>
        </p:nvPicPr>
        <p:blipFill>
          <a:blip r:embed="rId1"/>
          <a:stretch>
            <a:fillRect/>
          </a:stretch>
        </p:blipFill>
        <p:spPr>
          <a:xfrm>
            <a:off x="548640" y="1143000"/>
            <a:ext cx="2514600" cy="3536156"/>
          </a:xfrm>
          <a:prstGeom prst="rect">
            <a:avLst/>
          </a:prstGeom>
        </p:spPr>
      </p:pic>
      <p:sp>
        <p:nvSpPr>
          <p:cNvPr id="4" name="anat-dot"/>
          <p:cNvSpPr/>
          <p:nvPr/>
        </p:nvSpPr>
        <p:spPr>
          <a:xfrm>
            <a:off x="3520440" y="1298448"/>
            <a:ext cx="256032" cy="256032"/>
          </a:xfrm>
          <a:prstGeom prst="ellipse">
            <a:avLst/>
          </a:prstGeom>
          <a:solidFill>
            <a:schemeClr val="accent1"/>
          </a:solidFill>
          <a:ln w="12700">
            <a:solidFill>
              <a:schemeClr val="accent1"/>
            </a:solidFill>
            <a:prstDash val="solid"/>
          </a:ln>
        </p:spPr>
      </p:sp>
      <p:sp>
        <p:nvSpPr>
          <p:cNvPr id="5" name="Text 2"/>
          <p:cNvSpPr txBox="1"/>
          <p:nvPr/>
        </p:nvSpPr>
        <p:spPr>
          <a:xfrm>
            <a:off x="3977640" y="1188720"/>
            <a:ext cx="4663440" cy="292608"/>
          </a:xfrm>
          <a:prstGeom prst="rect">
            <a:avLst/>
          </a:prstGeom>
          <a:noFill/>
          <a:ln/>
        </p:spPr>
        <p:txBody>
          <a:bodyPr wrap="square" lIns="0" tIns="0" rIns="0" bIns="0" rtlCol="0" anchor="ctr"/>
          <a:lstStyle/>
          <a:p>
            <a:pPr indent="0" marL="0">
              <a:buNone/>
            </a:pPr>
            <a:r>
              <a:rPr lang="en-US" sz="1700" b="1" dirty="0">
                <a:solidFill>
                  <a:schemeClr val="tx1"/>
                </a:solidFill>
              </a:rPr>
              <a:t>Intent</a:t>
            </a:r>
            <a:endParaRPr lang="en-US" sz="1700" dirty="0"/>
          </a:p>
        </p:txBody>
      </p:sp>
      <p:sp>
        <p:nvSpPr>
          <p:cNvPr id="6" name="Text 3"/>
          <p:cNvSpPr txBox="1"/>
          <p:nvPr/>
        </p:nvSpPr>
        <p:spPr>
          <a:xfrm>
            <a:off x="3977640" y="1490472"/>
            <a:ext cx="4663440" cy="274320"/>
          </a:xfrm>
          <a:prstGeom prst="rect">
            <a:avLst/>
          </a:prstGeom>
          <a:noFill/>
          <a:ln/>
        </p:spPr>
        <p:txBody>
          <a:bodyPr wrap="square" lIns="0" tIns="0" rIns="0" bIns="0" rtlCol="0" anchor="ctr"/>
          <a:lstStyle/>
          <a:p>
            <a:pPr indent="0" marL="0">
              <a:buNone/>
            </a:pPr>
            <a:r>
              <a:rPr lang="en-US" sz="1400" dirty="0">
                <a:solidFill>
                  <a:schemeClr val="tx2"/>
                </a:solidFill>
              </a:rPr>
              <a:t>Who it's for and why it matters</a:t>
            </a:r>
            <a:endParaRPr lang="en-US" sz="1400" dirty="0"/>
          </a:p>
        </p:txBody>
      </p:sp>
      <p:sp>
        <p:nvSpPr>
          <p:cNvPr id="7" name="anat-dot"/>
          <p:cNvSpPr/>
          <p:nvPr/>
        </p:nvSpPr>
        <p:spPr>
          <a:xfrm>
            <a:off x="3520440" y="1984248"/>
            <a:ext cx="256032" cy="256032"/>
          </a:xfrm>
          <a:prstGeom prst="ellipse">
            <a:avLst/>
          </a:prstGeom>
          <a:solidFill>
            <a:schemeClr val="accent3"/>
          </a:solidFill>
          <a:ln w="12700">
            <a:solidFill>
              <a:schemeClr val="accent3"/>
            </a:solidFill>
            <a:prstDash val="solid"/>
          </a:ln>
        </p:spPr>
      </p:sp>
      <p:sp>
        <p:nvSpPr>
          <p:cNvPr id="8" name="Text 5"/>
          <p:cNvSpPr txBox="1"/>
          <p:nvPr/>
        </p:nvSpPr>
        <p:spPr>
          <a:xfrm>
            <a:off x="3977640" y="1874520"/>
            <a:ext cx="4663440" cy="292608"/>
          </a:xfrm>
          <a:prstGeom prst="rect">
            <a:avLst/>
          </a:prstGeom>
          <a:noFill/>
          <a:ln/>
        </p:spPr>
        <p:txBody>
          <a:bodyPr wrap="square" lIns="0" tIns="0" rIns="0" bIns="0" rtlCol="0" anchor="ctr"/>
          <a:lstStyle/>
          <a:p>
            <a:pPr indent="0" marL="0">
              <a:buNone/>
            </a:pPr>
            <a:r>
              <a:rPr lang="en-US" sz="1700" b="1" dirty="0">
                <a:solidFill>
                  <a:schemeClr val="tx1"/>
                </a:solidFill>
              </a:rPr>
              <a:t>Scenarios</a:t>
            </a:r>
            <a:endParaRPr lang="en-US" sz="1700" dirty="0"/>
          </a:p>
        </p:txBody>
      </p:sp>
      <p:sp>
        <p:nvSpPr>
          <p:cNvPr id="9" name="Text 6"/>
          <p:cNvSpPr txBox="1"/>
          <p:nvPr/>
        </p:nvSpPr>
        <p:spPr>
          <a:xfrm>
            <a:off x="3977640" y="2176272"/>
            <a:ext cx="4663440" cy="274320"/>
          </a:xfrm>
          <a:prstGeom prst="rect">
            <a:avLst/>
          </a:prstGeom>
          <a:noFill/>
          <a:ln/>
        </p:spPr>
        <p:txBody>
          <a:bodyPr wrap="square" lIns="0" tIns="0" rIns="0" bIns="0" rtlCol="0" anchor="ctr"/>
          <a:lstStyle/>
          <a:p>
            <a:pPr indent="0" marL="0">
              <a:buNone/>
            </a:pPr>
            <a:r>
              <a:rPr lang="en-US" sz="1400" dirty="0">
                <a:solidFill>
                  <a:schemeClr val="tx2"/>
                </a:solidFill>
              </a:rPr>
              <a:t>Prioritized stories · Given / When / Then</a:t>
            </a:r>
            <a:endParaRPr lang="en-US" sz="1400" dirty="0"/>
          </a:p>
        </p:txBody>
      </p:sp>
      <p:sp>
        <p:nvSpPr>
          <p:cNvPr id="10" name="anat-dot"/>
          <p:cNvSpPr/>
          <p:nvPr/>
        </p:nvSpPr>
        <p:spPr>
          <a:xfrm>
            <a:off x="3520440" y="2670048"/>
            <a:ext cx="256032" cy="256032"/>
          </a:xfrm>
          <a:prstGeom prst="ellipse">
            <a:avLst/>
          </a:prstGeom>
          <a:solidFill>
            <a:schemeClr val="accent4"/>
          </a:solidFill>
          <a:ln w="12700">
            <a:solidFill>
              <a:schemeClr val="accent4"/>
            </a:solidFill>
            <a:prstDash val="solid"/>
          </a:ln>
        </p:spPr>
      </p:sp>
      <p:sp>
        <p:nvSpPr>
          <p:cNvPr id="11" name="Text 8"/>
          <p:cNvSpPr txBox="1"/>
          <p:nvPr/>
        </p:nvSpPr>
        <p:spPr>
          <a:xfrm>
            <a:off x="3977640" y="2560320"/>
            <a:ext cx="4663440" cy="292608"/>
          </a:xfrm>
          <a:prstGeom prst="rect">
            <a:avLst/>
          </a:prstGeom>
          <a:noFill/>
          <a:ln/>
        </p:spPr>
        <p:txBody>
          <a:bodyPr wrap="square" lIns="0" tIns="0" rIns="0" bIns="0" rtlCol="0" anchor="ctr"/>
          <a:lstStyle/>
          <a:p>
            <a:pPr indent="0" marL="0">
              <a:buNone/>
            </a:pPr>
            <a:r>
              <a:rPr lang="en-US" sz="1700" b="1" dirty="0">
                <a:solidFill>
                  <a:schemeClr val="tx1"/>
                </a:solidFill>
              </a:rPr>
              <a:t>Requirements</a:t>
            </a:r>
            <a:endParaRPr lang="en-US" sz="1700" dirty="0"/>
          </a:p>
        </p:txBody>
      </p:sp>
      <p:sp>
        <p:nvSpPr>
          <p:cNvPr id="12" name="Text 9"/>
          <p:cNvSpPr txBox="1"/>
          <p:nvPr/>
        </p:nvSpPr>
        <p:spPr>
          <a:xfrm>
            <a:off x="3977640" y="2862072"/>
            <a:ext cx="4663440" cy="274320"/>
          </a:xfrm>
          <a:prstGeom prst="rect">
            <a:avLst/>
          </a:prstGeom>
          <a:noFill/>
          <a:ln/>
        </p:spPr>
        <p:txBody>
          <a:bodyPr wrap="square" lIns="0" tIns="0" rIns="0" bIns="0" rtlCol="0" anchor="ctr"/>
          <a:lstStyle/>
          <a:p>
            <a:pPr indent="0" marL="0">
              <a:buNone/>
            </a:pPr>
            <a:r>
              <a:rPr lang="en-US" sz="1400" dirty="0">
                <a:solidFill>
                  <a:schemeClr val="tx2"/>
                </a:solidFill>
              </a:rPr>
              <a:t>FR-001 … each one testable, each one a MUST</a:t>
            </a:r>
            <a:endParaRPr lang="en-US" sz="1400" dirty="0"/>
          </a:p>
        </p:txBody>
      </p:sp>
      <p:sp>
        <p:nvSpPr>
          <p:cNvPr id="13" name="anat-dot"/>
          <p:cNvSpPr/>
          <p:nvPr/>
        </p:nvSpPr>
        <p:spPr>
          <a:xfrm>
            <a:off x="3520440" y="3355848"/>
            <a:ext cx="256032" cy="256032"/>
          </a:xfrm>
          <a:prstGeom prst="ellipse">
            <a:avLst/>
          </a:prstGeom>
          <a:solidFill>
            <a:schemeClr val="accent2"/>
          </a:solidFill>
          <a:ln w="12700">
            <a:solidFill>
              <a:schemeClr val="accent2"/>
            </a:solidFill>
            <a:prstDash val="solid"/>
          </a:ln>
        </p:spPr>
      </p:sp>
      <p:sp>
        <p:nvSpPr>
          <p:cNvPr id="14" name="Text 11"/>
          <p:cNvSpPr txBox="1"/>
          <p:nvPr/>
        </p:nvSpPr>
        <p:spPr>
          <a:xfrm>
            <a:off x="3977640" y="3246120"/>
            <a:ext cx="4663440" cy="292608"/>
          </a:xfrm>
          <a:prstGeom prst="rect">
            <a:avLst/>
          </a:prstGeom>
          <a:noFill/>
          <a:ln/>
        </p:spPr>
        <p:txBody>
          <a:bodyPr wrap="square" lIns="0" tIns="0" rIns="0" bIns="0" rtlCol="0" anchor="ctr"/>
          <a:lstStyle/>
          <a:p>
            <a:pPr indent="0" marL="0">
              <a:buNone/>
            </a:pPr>
            <a:r>
              <a:rPr lang="en-US" sz="1700" b="1" dirty="0">
                <a:solidFill>
                  <a:schemeClr val="tx1"/>
                </a:solidFill>
              </a:rPr>
              <a:t>Success criteria</a:t>
            </a:r>
            <a:endParaRPr lang="en-US" sz="1700" dirty="0"/>
          </a:p>
        </p:txBody>
      </p:sp>
      <p:sp>
        <p:nvSpPr>
          <p:cNvPr id="15" name="Text 12"/>
          <p:cNvSpPr txBox="1"/>
          <p:nvPr/>
        </p:nvSpPr>
        <p:spPr>
          <a:xfrm>
            <a:off x="3977640" y="3547872"/>
            <a:ext cx="4663440" cy="274320"/>
          </a:xfrm>
          <a:prstGeom prst="rect">
            <a:avLst/>
          </a:prstGeom>
          <a:noFill/>
          <a:ln/>
        </p:spPr>
        <p:txBody>
          <a:bodyPr wrap="square" lIns="0" tIns="0" rIns="0" bIns="0" rtlCol="0" anchor="ctr"/>
          <a:lstStyle/>
          <a:p>
            <a:pPr indent="0" marL="0">
              <a:buNone/>
            </a:pPr>
            <a:r>
              <a:rPr lang="en-US" sz="1400" dirty="0">
                <a:solidFill>
                  <a:schemeClr val="tx2"/>
                </a:solidFill>
              </a:rPr>
              <a:t>Measurable: "p95 &lt; 100 ms", not "fast"</a:t>
            </a:r>
            <a:endParaRPr lang="en-US" sz="1400" dirty="0"/>
          </a:p>
        </p:txBody>
      </p:sp>
      <p:sp>
        <p:nvSpPr>
          <p:cNvPr id="16" name="anat-dot"/>
          <p:cNvSpPr/>
          <p:nvPr/>
        </p:nvSpPr>
        <p:spPr>
          <a:xfrm>
            <a:off x="3520440" y="4041648"/>
            <a:ext cx="256032" cy="256032"/>
          </a:xfrm>
          <a:prstGeom prst="ellipse">
            <a:avLst/>
          </a:prstGeom>
          <a:solidFill>
            <a:schemeClr val="accent5"/>
          </a:solidFill>
          <a:ln w="12700">
            <a:solidFill>
              <a:schemeClr val="accent5"/>
            </a:solidFill>
            <a:prstDash val="solid"/>
          </a:ln>
        </p:spPr>
      </p:sp>
      <p:sp>
        <p:nvSpPr>
          <p:cNvPr id="17" name="Text 14"/>
          <p:cNvSpPr txBox="1"/>
          <p:nvPr/>
        </p:nvSpPr>
        <p:spPr>
          <a:xfrm>
            <a:off x="3977640" y="3931920"/>
            <a:ext cx="4663440" cy="292608"/>
          </a:xfrm>
          <a:prstGeom prst="rect">
            <a:avLst/>
          </a:prstGeom>
          <a:noFill/>
          <a:ln/>
        </p:spPr>
        <p:txBody>
          <a:bodyPr wrap="square" lIns="0" tIns="0" rIns="0" bIns="0" rtlCol="0" anchor="ctr"/>
          <a:lstStyle/>
          <a:p>
            <a:pPr indent="0" marL="0">
              <a:buNone/>
            </a:pPr>
            <a:r>
              <a:rPr lang="en-US" sz="1700" b="1" dirty="0">
                <a:solidFill>
                  <a:schemeClr val="tx1"/>
                </a:solidFill>
              </a:rPr>
              <a:t>Boundaries</a:t>
            </a:r>
            <a:endParaRPr lang="en-US" sz="1700" dirty="0"/>
          </a:p>
        </p:txBody>
      </p:sp>
      <p:sp>
        <p:nvSpPr>
          <p:cNvPr id="18" name="Text 15"/>
          <p:cNvSpPr txBox="1"/>
          <p:nvPr/>
        </p:nvSpPr>
        <p:spPr>
          <a:xfrm>
            <a:off x="3977640" y="4233672"/>
            <a:ext cx="4663440" cy="274320"/>
          </a:xfrm>
          <a:prstGeom prst="rect">
            <a:avLst/>
          </a:prstGeom>
          <a:noFill/>
          <a:ln/>
        </p:spPr>
        <p:txBody>
          <a:bodyPr wrap="square" lIns="0" tIns="0" rIns="0" bIns="0" rtlCol="0" anchor="ctr"/>
          <a:lstStyle/>
          <a:p>
            <a:pPr indent="0" marL="0">
              <a:buNone/>
            </a:pPr>
            <a:r>
              <a:rPr lang="en-US" sz="1400" dirty="0">
                <a:solidFill>
                  <a:schemeClr val="tx2"/>
                </a:solidFill>
              </a:rPr>
              <a:t>Assumptions · non-goals · open questions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Same feature, two specs</a:t>
            </a:r>
            <a:endParaRPr lang="en-US" sz="3200" dirty="0"/>
          </a:p>
        </p:txBody>
      </p:sp>
      <p:sp>
        <p:nvSpPr>
          <p:cNvPr id="3" name="code-panel"/>
          <p:cNvSpPr/>
          <p:nvPr/>
        </p:nvSpPr>
        <p:spPr>
          <a:xfrm>
            <a:off x="457200" y="1188720"/>
            <a:ext cx="3840480" cy="2514600"/>
          </a:xfrm>
          <a:prstGeom prst="roundRect">
            <a:avLst>
              <a:gd name="adj" fmla="val 4364"/>
            </a:avLst>
          </a:prstGeom>
          <a:solidFill>
            <a:srgbClr val="0A1416"/>
          </a:solidFill>
          <a:ln w="19050">
            <a:solidFill>
              <a:srgbClr val="0A1416"/>
            </a:solidFill>
            <a:prstDash val="solid"/>
          </a:ln>
          <a:effectLst>
            <a:outerShdw sx="100000" sy="100000" kx="0" ky="0" algn="bl" rotWithShape="0" blurRad="101600" dist="25400" dir="5400000">
              <a:srgbClr val="000000">
                <a:alpha val="18000"/>
              </a:srgbClr>
            </a:outerShdw>
          </a:effectLst>
        </p:spPr>
      </p:sp>
      <p:sp>
        <p:nvSpPr>
          <p:cNvPr id="4" name="Text 2"/>
          <p:cNvSpPr txBox="1"/>
          <p:nvPr/>
        </p:nvSpPr>
        <p:spPr>
          <a:xfrm>
            <a:off x="640080" y="1280160"/>
            <a:ext cx="3474720" cy="274320"/>
          </a:xfrm>
          <a:prstGeom prst="rect">
            <a:avLst/>
          </a:prstGeom>
          <a:noFill/>
          <a:ln/>
        </p:spPr>
        <p:txBody>
          <a:bodyPr wrap="square" lIns="0" tIns="0" rIns="0" bIns="0" rtlCol="0" anchor="ctr"/>
          <a:lstStyle/>
          <a:p>
            <a:pPr indent="0" marL="0">
              <a:buNone/>
            </a:pPr>
            <a:r>
              <a:rPr lang="en-US" sz="1100" dirty="0">
                <a:solidFill>
                  <a:srgbClr val="5C6B66"/>
                </a:solidFill>
                <a:latin typeface="Courier New" pitchFamily="34" charset="0"/>
                <a:ea typeface="Courier New" pitchFamily="34" charset="-122"/>
                <a:cs typeface="Courier New" pitchFamily="34" charset="-120"/>
              </a:rPr>
              <a:t>prompt.txt</a:t>
            </a:r>
            <a:endParaRPr lang="en-US" sz="1100" dirty="0"/>
          </a:p>
        </p:txBody>
      </p:sp>
      <p:sp>
        <p:nvSpPr>
          <p:cNvPr id="5" name="code-text"/>
          <p:cNvSpPr txBox="1"/>
          <p:nvPr/>
        </p:nvSpPr>
        <p:spPr>
          <a:xfrm>
            <a:off x="640080" y="1572768"/>
            <a:ext cx="3474720" cy="2020824"/>
          </a:xfrm>
          <a:prstGeom prst="rect">
            <a:avLst/>
          </a:prstGeom>
          <a:noFill/>
          <a:ln/>
        </p:spPr>
        <p:txBody>
          <a:bodyPr wrap="square" lIns="0" tIns="0" rIns="0" bIns="0" rtlCol="0" anchor="t"/>
          <a:lstStyle/>
          <a:p>
            <a:pPr indent="0" marL="0">
              <a:spcAft>
                <a:spcPts val="200"/>
              </a:spcAft>
              <a:buNone/>
            </a:pPr>
            <a:r>
              <a:rPr lang="en-US" sz="1400" dirty="0">
                <a:solidFill>
                  <a:srgbClr val="D7E7DF"/>
                </a:solidFill>
                <a:latin typeface="Courier New" pitchFamily="34" charset="0"/>
                <a:ea typeface="Courier New" pitchFamily="34" charset="-122"/>
                <a:cs typeface="Courier New" pitchFamily="34" charset="-120"/>
              </a:rPr>
              <a:t>Build a URL shortener.</a:t>
            </a:r>
            <a:endParaRPr lang="en-US" sz="1400" dirty="0"/>
          </a:p>
          <a:p>
            <a:pPr indent="0" marL="0">
              <a:spcAft>
                <a:spcPts val="200"/>
              </a:spcAft>
              <a:buNone/>
            </a:pPr>
            <a:r>
              <a:rPr lang="en-US" sz="1400" dirty="0">
                <a:solidFill>
                  <a:srgbClr val="D7E7DF"/>
                </a:solidFill>
                <a:latin typeface="Courier New" pitchFamily="34" charset="0"/>
                <a:ea typeface="Courier New" pitchFamily="34" charset="-122"/>
                <a:cs typeface="Courier New" pitchFamily="34" charset="-120"/>
              </a:rPr>
              <a:t>Make it fast and secure.</a:t>
            </a:r>
            <a:endParaRPr lang="en-US" sz="1400" dirty="0"/>
          </a:p>
          <a:p>
            <a:pPr indent="0" marL="0">
              <a:spcAft>
                <a:spcPts val="200"/>
              </a:spcAft>
              <a:buNone/>
            </a:pPr>
            <a:r>
              <a:rPr lang="en-US" sz="1400" dirty="0">
                <a:solidFill>
                  <a:srgbClr val="D7E7DF"/>
                </a:solidFill>
                <a:latin typeface="Courier New" pitchFamily="34" charset="0"/>
                <a:ea typeface="Courier New" pitchFamily="34" charset="-122"/>
                <a:cs typeface="Courier New" pitchFamily="34" charset="-120"/>
              </a:rPr>
              <a:t>Support custom links.</a:t>
            </a:r>
            <a:endParaRPr lang="en-US" sz="1400" dirty="0"/>
          </a:p>
          <a:p>
            <a:pPr indent="0" marL="0">
              <a:spcAft>
                <a:spcPts val="200"/>
              </a:spcAft>
              <a:buNone/>
            </a:pPr>
            <a:r>
              <a:rPr lang="en-US" sz="1400" b="1" dirty="0">
                <a:solidFill>
                  <a:srgbClr val="FF7A45"/>
                </a:solidFill>
                <a:latin typeface="Courier New" pitchFamily="34" charset="0"/>
                <a:ea typeface="Courier New" pitchFamily="34" charset="-122"/>
                <a:cs typeface="Courier New" pitchFamily="34" charset="-120"/>
              </a:rPr>
              <a:t>Use FastAPI and Redis.</a:t>
            </a:r>
            <a:endParaRPr lang="en-US" sz="1400" dirty="0"/>
          </a:p>
        </p:txBody>
      </p:sp>
      <p:sp>
        <p:nvSpPr>
          <p:cNvPr id="6" name="code-panel"/>
          <p:cNvSpPr/>
          <p:nvPr/>
        </p:nvSpPr>
        <p:spPr>
          <a:xfrm>
            <a:off x="4846320" y="1188720"/>
            <a:ext cx="3840480" cy="2514600"/>
          </a:xfrm>
          <a:prstGeom prst="roundRect">
            <a:avLst>
              <a:gd name="adj" fmla="val 4364"/>
            </a:avLst>
          </a:prstGeom>
          <a:solidFill>
            <a:srgbClr val="0A1416"/>
          </a:solidFill>
          <a:ln w="19050">
            <a:solidFill>
              <a:srgbClr val="0A1416"/>
            </a:solidFill>
            <a:prstDash val="solid"/>
          </a:ln>
          <a:effectLst>
            <a:outerShdw sx="100000" sy="100000" kx="0" ky="0" algn="bl" rotWithShape="0" blurRad="101600" dist="25400" dir="5400000">
              <a:srgbClr val="000000">
                <a:alpha val="18000"/>
              </a:srgbClr>
            </a:outerShdw>
          </a:effectLst>
        </p:spPr>
      </p:sp>
      <p:sp>
        <p:nvSpPr>
          <p:cNvPr id="7" name="Text 5"/>
          <p:cNvSpPr txBox="1"/>
          <p:nvPr/>
        </p:nvSpPr>
        <p:spPr>
          <a:xfrm>
            <a:off x="5029200" y="1280160"/>
            <a:ext cx="3474720" cy="274320"/>
          </a:xfrm>
          <a:prstGeom prst="rect">
            <a:avLst/>
          </a:prstGeom>
          <a:noFill/>
          <a:ln/>
        </p:spPr>
        <p:txBody>
          <a:bodyPr wrap="square" lIns="0" tIns="0" rIns="0" bIns="0" rtlCol="0" anchor="ctr"/>
          <a:lstStyle/>
          <a:p>
            <a:pPr indent="0" marL="0">
              <a:buNone/>
            </a:pPr>
            <a:r>
              <a:rPr lang="en-US" sz="1100" dirty="0">
                <a:solidFill>
                  <a:srgbClr val="5C6B66"/>
                </a:solidFill>
                <a:latin typeface="Courier New" pitchFamily="34" charset="0"/>
                <a:ea typeface="Courier New" pitchFamily="34" charset="-122"/>
                <a:cs typeface="Courier New" pitchFamily="34" charset="-120"/>
              </a:rPr>
              <a:t>spec.md</a:t>
            </a:r>
            <a:endParaRPr lang="en-US" sz="1100" dirty="0"/>
          </a:p>
        </p:txBody>
      </p:sp>
      <p:sp>
        <p:nvSpPr>
          <p:cNvPr id="8" name="code-text"/>
          <p:cNvSpPr txBox="1"/>
          <p:nvPr/>
        </p:nvSpPr>
        <p:spPr>
          <a:xfrm>
            <a:off x="5029200" y="1572768"/>
            <a:ext cx="3474720" cy="2020824"/>
          </a:xfrm>
          <a:prstGeom prst="rect">
            <a:avLst/>
          </a:prstGeom>
          <a:noFill/>
          <a:ln/>
        </p:spPr>
        <p:txBody>
          <a:bodyPr wrap="square" lIns="0" tIns="0" rIns="0" bIns="0" rtlCol="0" anchor="t"/>
          <a:lstStyle/>
          <a:p>
            <a:pPr indent="0" marL="0">
              <a:spcAft>
                <a:spcPts val="200"/>
              </a:spcAft>
              <a:buNone/>
            </a:pPr>
            <a:r>
              <a:rPr lang="en-US" sz="1200" b="1" dirty="0">
                <a:solidFill>
                  <a:srgbClr val="2BB673"/>
                </a:solidFill>
                <a:latin typeface="Courier New" pitchFamily="34" charset="0"/>
                <a:ea typeface="Courier New" pitchFamily="34" charset="-122"/>
                <a:cs typeface="Courier New" pitchFamily="34" charset="-120"/>
              </a:rPr>
              <a:t>US3 (P2) Custom alias</a:t>
            </a:r>
            <a:endParaRPr lang="en-US" sz="1200" dirty="0"/>
          </a:p>
          <a:p>
            <a:pPr indent="0" marL="0">
              <a:spcAft>
                <a:spcPts val="200"/>
              </a:spcAft>
              <a:buNone/>
            </a:pPr>
            <a:r>
              <a:rPr lang="en-US" sz="1200" dirty="0">
                <a:solidFill>
                  <a:srgbClr val="D7E7DF"/>
                </a:solidFill>
                <a:latin typeface="Courier New" pitchFamily="34" charset="0"/>
                <a:ea typeface="Courier New" pitchFamily="34" charset="-122"/>
                <a:cs typeface="Courier New" pitchFamily="34" charset="-120"/>
              </a:rPr>
              <a:t>Given an alias in use,</a:t>
            </a:r>
            <a:endParaRPr lang="en-US" sz="1200" dirty="0"/>
          </a:p>
          <a:p>
            <a:pPr indent="0" marL="0">
              <a:spcAft>
                <a:spcPts val="200"/>
              </a:spcAft>
              <a:buNone/>
            </a:pPr>
            <a:r>
              <a:rPr lang="en-US" sz="1200" dirty="0">
                <a:solidFill>
                  <a:srgbClr val="D7E7DF"/>
                </a:solidFill>
                <a:latin typeface="Courier New" pitchFamily="34" charset="0"/>
                <a:ea typeface="Courier New" pitchFamily="34" charset="-122"/>
                <a:cs typeface="Courier New" pitchFamily="34" charset="-120"/>
              </a:rPr>
              <a:t>When it is requested again,</a:t>
            </a:r>
            <a:endParaRPr lang="en-US" sz="1200" dirty="0"/>
          </a:p>
          <a:p>
            <a:pPr indent="0" marL="0">
              <a:spcAft>
                <a:spcPts val="200"/>
              </a:spcAft>
              <a:buNone/>
            </a:pPr>
            <a:r>
              <a:rPr lang="en-US" sz="1200" dirty="0">
                <a:solidFill>
                  <a:srgbClr val="D7E7DF"/>
                </a:solidFill>
                <a:latin typeface="Courier New" pitchFamily="34" charset="0"/>
                <a:ea typeface="Courier New" pitchFamily="34" charset="-122"/>
                <a:cs typeface="Courier New" pitchFamily="34" charset="-120"/>
              </a:rPr>
              <a:t>Then report a conflict.</a:t>
            </a:r>
            <a:endParaRPr lang="en-US" sz="1200" dirty="0"/>
          </a:p>
          <a:p>
            <a:pPr indent="0" marL="0">
              <a:spcAft>
                <a:spcPts val="200"/>
              </a:spcAft>
              <a:buNone/>
            </a:pPr>
            <a:r>
              <a:rPr lang="en-US" sz="1200" dirty="0">
                <a:solidFill>
                  <a:srgbClr val="FFC857"/>
                </a:solidFill>
                <a:latin typeface="Courier New" pitchFamily="34" charset="0"/>
                <a:ea typeface="Courier New" pitchFamily="34" charset="-122"/>
                <a:cs typeface="Courier New" pitchFamily="34" charset="-120"/>
              </a:rPr>
              <a:t>FR-008 alias: 3–32 [a-z0-9-]</a:t>
            </a:r>
            <a:endParaRPr lang="en-US" sz="1200" dirty="0"/>
          </a:p>
          <a:p>
            <a:pPr indent="0" marL="0">
              <a:spcAft>
                <a:spcPts val="200"/>
              </a:spcAft>
              <a:buNone/>
            </a:pPr>
            <a:r>
              <a:rPr lang="en-US" sz="1200" dirty="0">
                <a:solidFill>
                  <a:srgbClr val="4FB3D9"/>
                </a:solidFill>
                <a:latin typeface="Courier New" pitchFamily="34" charset="0"/>
                <a:ea typeface="Courier New" pitchFamily="34" charset="-122"/>
                <a:cs typeface="Courier New" pitchFamily="34" charset="-120"/>
              </a:rPr>
              <a:t>SC-003 p95 redirect &lt; 100 ms</a:t>
            </a:r>
            <a:endParaRPr lang="en-US" sz="1200" dirty="0"/>
          </a:p>
          <a:p>
            <a:pPr indent="0" marL="0">
              <a:spcAft>
                <a:spcPts val="200"/>
              </a:spcAft>
              <a:buNone/>
            </a:pPr>
            <a:r>
              <a:rPr lang="en-US" sz="1200" dirty="0">
                <a:solidFill>
                  <a:srgbClr val="FF7A45"/>
                </a:solidFill>
                <a:latin typeface="Courier New" pitchFamily="34" charset="0"/>
                <a:ea typeface="Courier New" pitchFamily="34" charset="-122"/>
                <a:cs typeface="Courier New" pitchFamily="34" charset="-120"/>
              </a:rPr>
              <a:t>? Should links expire?</a:t>
            </a:r>
            <a:endParaRPr lang="en-US" sz="1200" dirty="0"/>
          </a:p>
        </p:txBody>
      </p:sp>
      <p:sp>
        <p:nvSpPr>
          <p:cNvPr id="9" name="icon-bg-FaTimes"/>
          <p:cNvSpPr/>
          <p:nvPr/>
        </p:nvSpPr>
        <p:spPr>
          <a:xfrm>
            <a:off x="457200" y="3913632"/>
            <a:ext cx="457200" cy="457200"/>
          </a:xfrm>
          <a:prstGeom prst="ellipse">
            <a:avLst/>
          </a:prstGeom>
          <a:solidFill>
            <a:schemeClr val="accent2"/>
          </a:solidFill>
          <a:ln w="12700">
            <a:solidFill>
              <a:schemeClr val="accent2"/>
            </a:solidFill>
            <a:prstDash val="solid"/>
          </a:ln>
        </p:spPr>
      </p:sp>
      <p:pic>
        <p:nvPicPr>
          <p:cNvPr id="10" name="icon-FaTimes" descr="preencoded.png">    </p:cNvPr>
          <p:cNvPicPr>
            <a:picLocks noChangeAspect="1"/>
          </p:cNvPicPr>
          <p:nvPr/>
        </p:nvPicPr>
        <p:blipFill>
          <a:blip r:embed="rId1"/>
          <a:stretch>
            <a:fillRect/>
          </a:stretch>
        </p:blipFill>
        <p:spPr>
          <a:xfrm>
            <a:off x="571500" y="4027932"/>
            <a:ext cx="228600" cy="228600"/>
          </a:xfrm>
          <a:prstGeom prst="rect">
            <a:avLst/>
          </a:prstGeom>
        </p:spPr>
      </p:pic>
      <p:sp>
        <p:nvSpPr>
          <p:cNvPr id="11" name="Text 8"/>
          <p:cNvSpPr txBox="1"/>
          <p:nvPr/>
        </p:nvSpPr>
        <p:spPr>
          <a:xfrm>
            <a:off x="1005840" y="3913632"/>
            <a:ext cx="3291840" cy="457200"/>
          </a:xfrm>
          <a:prstGeom prst="rect">
            <a:avLst/>
          </a:prstGeom>
          <a:noFill/>
          <a:ln/>
        </p:spPr>
        <p:txBody>
          <a:bodyPr wrap="square" lIns="0" tIns="0" rIns="0" bIns="0" rtlCol="0" anchor="ctr"/>
          <a:lstStyle/>
          <a:p>
            <a:pPr indent="0" marL="0">
              <a:buNone/>
            </a:pPr>
            <a:r>
              <a:rPr lang="en-US" sz="1500" b="1" dirty="0">
                <a:solidFill>
                  <a:schemeClr val="tx1"/>
                </a:solidFill>
              </a:rPr>
              <a:t>Vague goals, no tests, tech mixed in</a:t>
            </a:r>
            <a:endParaRPr lang="en-US" sz="1500" dirty="0"/>
          </a:p>
        </p:txBody>
      </p:sp>
      <p:sp>
        <p:nvSpPr>
          <p:cNvPr id="12" name="icon-bg-FaCheck"/>
          <p:cNvSpPr/>
          <p:nvPr/>
        </p:nvSpPr>
        <p:spPr>
          <a:xfrm>
            <a:off x="4846320" y="3913632"/>
            <a:ext cx="457200" cy="457200"/>
          </a:xfrm>
          <a:prstGeom prst="ellipse">
            <a:avLst/>
          </a:prstGeom>
          <a:solidFill>
            <a:schemeClr val="accent1"/>
          </a:solidFill>
          <a:ln w="12700">
            <a:solidFill>
              <a:schemeClr val="accent1"/>
            </a:solidFill>
            <a:prstDash val="solid"/>
          </a:ln>
        </p:spPr>
      </p:sp>
      <p:pic>
        <p:nvPicPr>
          <p:cNvPr id="13" name="icon-FaCheck" descr="preencoded.png">    </p:cNvPr>
          <p:cNvPicPr>
            <a:picLocks noChangeAspect="1"/>
          </p:cNvPicPr>
          <p:nvPr/>
        </p:nvPicPr>
        <p:blipFill>
          <a:blip r:embed="rId2"/>
          <a:stretch>
            <a:fillRect/>
          </a:stretch>
        </p:blipFill>
        <p:spPr>
          <a:xfrm>
            <a:off x="4960620" y="4027932"/>
            <a:ext cx="228600" cy="228600"/>
          </a:xfrm>
          <a:prstGeom prst="rect">
            <a:avLst/>
          </a:prstGeom>
        </p:spPr>
      </p:pic>
      <p:sp>
        <p:nvSpPr>
          <p:cNvPr id="14" name="Text 10"/>
          <p:cNvSpPr txBox="1"/>
          <p:nvPr/>
        </p:nvSpPr>
        <p:spPr>
          <a:xfrm>
            <a:off x="5394960" y="3913632"/>
            <a:ext cx="3291840" cy="457200"/>
          </a:xfrm>
          <a:prstGeom prst="rect">
            <a:avLst/>
          </a:prstGeom>
          <a:noFill/>
          <a:ln/>
        </p:spPr>
        <p:txBody>
          <a:bodyPr wrap="square" lIns="0" tIns="0" rIns="0" bIns="0" rtlCol="0" anchor="ctr"/>
          <a:lstStyle/>
          <a:p>
            <a:pPr indent="0" marL="0">
              <a:buNone/>
            </a:pPr>
            <a:r>
              <a:rPr lang="en-US" sz="1500" b="1" dirty="0">
                <a:solidFill>
                  <a:schemeClr val="tx1"/>
                </a:solidFill>
              </a:rPr>
              <a:t>Testable, measurable, honest about gaps</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The SDD loop</a:t>
            </a:r>
            <a:endParaRPr lang="en-US" sz="3200" dirty="0"/>
          </a:p>
        </p:txBody>
      </p:sp>
      <p:pic>
        <p:nvPicPr>
          <p:cNvPr id="3" name="sdd-loop" descr="img/sdd-loop.png">    </p:cNvPr>
          <p:cNvPicPr>
            <a:picLocks noChangeAspect="1"/>
          </p:cNvPicPr>
          <p:nvPr/>
        </p:nvPicPr>
        <p:blipFill>
          <a:blip r:embed="rId1"/>
          <a:stretch>
            <a:fillRect/>
          </a:stretch>
        </p:blipFill>
        <p:spPr>
          <a:xfrm>
            <a:off x="365760" y="1051560"/>
            <a:ext cx="4206240" cy="3551936"/>
          </a:xfrm>
          <a:prstGeom prst="rect">
            <a:avLst/>
          </a:prstGeom>
        </p:spPr>
      </p:pic>
      <p:sp>
        <p:nvSpPr>
          <p:cNvPr id="4" name="bullets"/>
          <p:cNvSpPr txBox="1"/>
          <p:nvPr/>
        </p:nvSpPr>
        <p:spPr>
          <a:xfrm>
            <a:off x="4937760" y="1417320"/>
            <a:ext cx="3749040" cy="2926080"/>
          </a:xfrm>
          <a:prstGeom prst="rect">
            <a:avLst/>
          </a:prstGeom>
          <a:noFill/>
          <a:ln/>
        </p:spPr>
        <p:txBody>
          <a:bodyPr wrap="square" lIns="0" tIns="0" rIns="0" bIns="0" rtlCol="0" anchor="t"/>
          <a:lstStyle/>
          <a:p>
            <a:pPr marL="190500" indent="-190500">
              <a:spcAft>
                <a:spcPts val="1000"/>
              </a:spcAft>
              <a:buSzPct val="100000"/>
              <a:buChar char="•"/>
            </a:pPr>
            <a:r>
              <a:rPr lang="en-US" sz="1700" b="1" dirty="0">
                <a:solidFill>
                  <a:schemeClr val="tx1"/>
                </a:solidFill>
              </a:rPr>
              <a:t>Each arrow is a review</a:t>
            </a:r>
            <a:pPr indent="0" marL="0">
              <a:spcAft>
                <a:spcPts val="1000"/>
              </a:spcAft>
              <a:buNone/>
            </a:pPr>
            <a:r>
              <a:rPr lang="en-US" sz="1700" dirty="0">
                <a:solidFill>
                  <a:schemeClr val="tx2"/>
                </a:solidFill>
              </a:rPr>
              <a:t> — a human gate</a:t>
            </a:r>
            <a:endParaRPr lang="en-US" sz="1700" dirty="0"/>
          </a:p>
          <a:p>
            <a:pPr marL="190500" indent="-190500">
              <a:spcAft>
                <a:spcPts val="1000"/>
              </a:spcAft>
              <a:buSzPct val="100000"/>
              <a:buChar char="•"/>
            </a:pPr>
            <a:r>
              <a:rPr lang="en-US" sz="1700" b="1" dirty="0">
                <a:solidFill>
                  <a:schemeClr val="tx1"/>
                </a:solidFill>
              </a:rPr>
              <a:t>Change the spec,</a:t>
            </a:r>
            <a:pPr indent="0" marL="0">
              <a:spcAft>
                <a:spcPts val="1000"/>
              </a:spcAft>
              <a:buNone/>
            </a:pPr>
            <a:r>
              <a:rPr lang="en-US" sz="1700" dirty="0">
                <a:solidFill>
                  <a:schemeClr val="tx2"/>
                </a:solidFill>
              </a:rPr>
              <a:t> not the code, then regenerate</a:t>
            </a:r>
            <a:endParaRPr lang="en-US" sz="1700" dirty="0"/>
          </a:p>
          <a:p>
            <a:pPr marL="190500" indent="-190500">
              <a:spcAft>
                <a:spcPts val="1000"/>
              </a:spcAft>
              <a:buSzPct val="100000"/>
              <a:buChar char="•"/>
            </a:pPr>
            <a:r>
              <a:rPr lang="en-US" sz="1700" b="1" dirty="0">
                <a:solidFill>
                  <a:schemeClr val="tx1"/>
                </a:solidFill>
              </a:rPr>
              <a:t>Verify against the spec,</a:t>
            </a:r>
            <a:pPr indent="0" marL="0">
              <a:spcAft>
                <a:spcPts val="1000"/>
              </a:spcAft>
              <a:buNone/>
            </a:pPr>
            <a:r>
              <a:rPr lang="en-US" sz="1700" dirty="0">
                <a:solidFill>
                  <a:schemeClr val="tx2"/>
                </a:solidFill>
              </a:rPr>
              <a:t> not against vibes</a:t>
            </a:r>
            <a:endParaRPr lang="en-US" sz="1700" dirty="0"/>
          </a:p>
          <a:p>
            <a:pPr marL="190500" indent="-190500">
              <a:spcAft>
                <a:spcPts val="1000"/>
              </a:spcAft>
              <a:buSzPct val="100000"/>
              <a:buChar char="•"/>
            </a:pPr>
            <a:r>
              <a:rPr lang="en-US" sz="1700" b="1" dirty="0">
                <a:solidFill>
                  <a:schemeClr val="tx1"/>
                </a:solidFill>
              </a:rPr>
              <a:t>Spec ≠ code?</a:t>
            </a:r>
            <a:pPr indent="0" marL="0">
              <a:spcAft>
                <a:spcPts val="1000"/>
              </a:spcAft>
              <a:buNone/>
            </a:pPr>
            <a:r>
              <a:rPr lang="en-US" sz="1700" dirty="0">
                <a:solidFill>
                  <a:schemeClr val="tx2"/>
                </a:solidFill>
              </a:rPr>
              <a:t> That drift is a bug</a:t>
            </a:r>
            <a:endParaRPr lang="en-US" sz="17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400" b="1" dirty="0">
                <a:solidFill>
                  <a:schemeClr val="bg1"/>
                </a:solidFill>
              </a:rPr>
              <a:t>From autocomplete to agents</a:t>
            </a:r>
            <a:endParaRPr lang="en-US" sz="3400" dirty="0"/>
          </a:p>
        </p:txBody>
      </p:sp>
      <p:sp>
        <p:nvSpPr>
          <p:cNvPr id="3" name="card"/>
          <p:cNvSpPr/>
          <p:nvPr/>
        </p:nvSpPr>
        <p:spPr>
          <a:xfrm>
            <a:off x="457200" y="1280160"/>
            <a:ext cx="2560320" cy="2514600"/>
          </a:xfrm>
          <a:prstGeom prst="roundRect">
            <a:avLst>
              <a:gd name="adj" fmla="val 4364"/>
            </a:avLst>
          </a:prstGeom>
          <a:solidFill>
            <a:schemeClr val="tx2"/>
          </a:solidFill>
          <a:ln w="12700">
            <a:solidFill>
              <a:schemeClr val="tx2"/>
            </a:solidFill>
            <a:prstDash val="solid"/>
          </a:ln>
        </p:spPr>
      </p:sp>
      <p:sp>
        <p:nvSpPr>
          <p:cNvPr id="4" name="icon-bg-FaKeyboard"/>
          <p:cNvSpPr/>
          <p:nvPr/>
        </p:nvSpPr>
        <p:spPr>
          <a:xfrm>
            <a:off x="731520" y="1508760"/>
            <a:ext cx="685800" cy="685800"/>
          </a:xfrm>
          <a:prstGeom prst="ellipse">
            <a:avLst/>
          </a:prstGeom>
          <a:solidFill>
            <a:schemeClr val="accent3"/>
          </a:solidFill>
          <a:ln w="12700">
            <a:solidFill>
              <a:schemeClr val="accent3"/>
            </a:solidFill>
            <a:prstDash val="solid"/>
          </a:ln>
        </p:spPr>
      </p:sp>
      <p:pic>
        <p:nvPicPr>
          <p:cNvPr id="5" name="icon-FaKeyboard" descr="preencoded.png">    </p:cNvPr>
          <p:cNvPicPr>
            <a:picLocks noChangeAspect="1"/>
          </p:cNvPicPr>
          <p:nvPr/>
        </p:nvPicPr>
        <p:blipFill>
          <a:blip r:embed="rId1"/>
          <a:stretch>
            <a:fillRect/>
          </a:stretch>
        </p:blipFill>
        <p:spPr>
          <a:xfrm>
            <a:off x="902970" y="1680210"/>
            <a:ext cx="342900" cy="342900"/>
          </a:xfrm>
          <a:prstGeom prst="rect">
            <a:avLst/>
          </a:prstGeom>
        </p:spPr>
      </p:pic>
      <p:sp>
        <p:nvSpPr>
          <p:cNvPr id="6" name="Text 3"/>
          <p:cNvSpPr txBox="1"/>
          <p:nvPr/>
        </p:nvSpPr>
        <p:spPr>
          <a:xfrm>
            <a:off x="731520" y="2331720"/>
            <a:ext cx="2103120" cy="411480"/>
          </a:xfrm>
          <a:prstGeom prst="rect">
            <a:avLst/>
          </a:prstGeom>
          <a:noFill/>
          <a:ln/>
        </p:spPr>
        <p:txBody>
          <a:bodyPr wrap="square" lIns="0" tIns="0" rIns="0" bIns="0" rtlCol="0" anchor="ctr"/>
          <a:lstStyle/>
          <a:p>
            <a:pPr indent="0" marL="0">
              <a:buNone/>
            </a:pPr>
            <a:r>
              <a:rPr lang="en-US" sz="2200" b="1" dirty="0">
                <a:solidFill>
                  <a:schemeClr val="bg1"/>
                </a:solidFill>
              </a:rPr>
              <a:t>Autocomplete</a:t>
            </a:r>
            <a:endParaRPr lang="en-US" sz="2200" dirty="0"/>
          </a:p>
        </p:txBody>
      </p:sp>
      <p:sp>
        <p:nvSpPr>
          <p:cNvPr id="7" name="Text 4"/>
          <p:cNvSpPr txBox="1"/>
          <p:nvPr/>
        </p:nvSpPr>
        <p:spPr>
          <a:xfrm>
            <a:off x="731520" y="2743200"/>
            <a:ext cx="2103120" cy="731520"/>
          </a:xfrm>
          <a:prstGeom prst="rect">
            <a:avLst/>
          </a:prstGeom>
          <a:noFill/>
          <a:ln/>
        </p:spPr>
        <p:txBody>
          <a:bodyPr wrap="square" lIns="0" tIns="0" rIns="0" bIns="0" rtlCol="0" anchor="t"/>
          <a:lstStyle/>
          <a:p>
            <a:pPr indent="0" marL="0">
              <a:buNone/>
            </a:pPr>
            <a:r>
              <a:rPr lang="en-US" sz="1500" dirty="0">
                <a:solidFill>
                  <a:schemeClr val="bg2"/>
                </a:solidFill>
              </a:rPr>
              <a:t>finishes your line</a:t>
            </a:r>
            <a:endParaRPr lang="en-US" sz="1500" dirty="0"/>
          </a:p>
        </p:txBody>
      </p:sp>
      <p:sp>
        <p:nvSpPr>
          <p:cNvPr id="8" name="era-arrow"/>
          <p:cNvSpPr/>
          <p:nvPr/>
        </p:nvSpPr>
        <p:spPr>
          <a:xfrm>
            <a:off x="3044952" y="2423160"/>
            <a:ext cx="219456" cy="274320"/>
          </a:xfrm>
          <a:prstGeom prst="rightArrow">
            <a:avLst/>
          </a:prstGeom>
          <a:solidFill>
            <a:srgbClr val="3D5A52"/>
          </a:solidFill>
          <a:ln w="12700">
            <a:solidFill>
              <a:srgbClr val="3D5A52"/>
            </a:solidFill>
            <a:prstDash val="solid"/>
          </a:ln>
        </p:spPr>
      </p:sp>
      <p:sp>
        <p:nvSpPr>
          <p:cNvPr id="9" name="Text 6"/>
          <p:cNvSpPr txBox="1"/>
          <p:nvPr/>
        </p:nvSpPr>
        <p:spPr>
          <a:xfrm>
            <a:off x="457200" y="3977640"/>
            <a:ext cx="2560320" cy="365760"/>
          </a:xfrm>
          <a:prstGeom prst="rect">
            <a:avLst/>
          </a:prstGeom>
          <a:noFill/>
          <a:ln/>
        </p:spPr>
        <p:txBody>
          <a:bodyPr wrap="square" lIns="0" tIns="0" rIns="0" bIns="0" rtlCol="0" anchor="ctr"/>
          <a:lstStyle/>
          <a:p>
            <a:pPr algn="ctr" indent="0" marL="0">
              <a:buNone/>
            </a:pPr>
            <a:r>
              <a:rPr lang="en-US" sz="1600" b="1" dirty="0">
                <a:solidFill>
                  <a:schemeClr val="accent3"/>
                </a:solidFill>
              </a:rPr>
              <a:t>You type</a:t>
            </a:r>
            <a:endParaRPr lang="en-US" sz="1600" dirty="0"/>
          </a:p>
        </p:txBody>
      </p:sp>
      <p:sp>
        <p:nvSpPr>
          <p:cNvPr id="10" name="card"/>
          <p:cNvSpPr/>
          <p:nvPr/>
        </p:nvSpPr>
        <p:spPr>
          <a:xfrm>
            <a:off x="3291840" y="1280160"/>
            <a:ext cx="2560320" cy="2514600"/>
          </a:xfrm>
          <a:prstGeom prst="roundRect">
            <a:avLst>
              <a:gd name="adj" fmla="val 4364"/>
            </a:avLst>
          </a:prstGeom>
          <a:solidFill>
            <a:schemeClr val="tx2"/>
          </a:solidFill>
          <a:ln w="12700">
            <a:solidFill>
              <a:schemeClr val="tx2"/>
            </a:solidFill>
            <a:prstDash val="solid"/>
          </a:ln>
        </p:spPr>
      </p:sp>
      <p:sp>
        <p:nvSpPr>
          <p:cNvPr id="11" name="icon-bg-FaComments"/>
          <p:cNvSpPr/>
          <p:nvPr/>
        </p:nvSpPr>
        <p:spPr>
          <a:xfrm>
            <a:off x="3566160" y="1508760"/>
            <a:ext cx="685800" cy="685800"/>
          </a:xfrm>
          <a:prstGeom prst="ellipse">
            <a:avLst/>
          </a:prstGeom>
          <a:solidFill>
            <a:schemeClr val="accent4"/>
          </a:solidFill>
          <a:ln w="12700">
            <a:solidFill>
              <a:schemeClr val="accent4"/>
            </a:solidFill>
            <a:prstDash val="solid"/>
          </a:ln>
        </p:spPr>
      </p:sp>
      <p:pic>
        <p:nvPicPr>
          <p:cNvPr id="12" name="icon-FaComments" descr="preencoded.png">    </p:cNvPr>
          <p:cNvPicPr>
            <a:picLocks noChangeAspect="1"/>
          </p:cNvPicPr>
          <p:nvPr/>
        </p:nvPicPr>
        <p:blipFill>
          <a:blip r:embed="rId2"/>
          <a:stretch>
            <a:fillRect/>
          </a:stretch>
        </p:blipFill>
        <p:spPr>
          <a:xfrm>
            <a:off x="3737610" y="1680210"/>
            <a:ext cx="342900" cy="342900"/>
          </a:xfrm>
          <a:prstGeom prst="rect">
            <a:avLst/>
          </a:prstGeom>
        </p:spPr>
      </p:pic>
      <p:sp>
        <p:nvSpPr>
          <p:cNvPr id="13" name="Text 9"/>
          <p:cNvSpPr txBox="1"/>
          <p:nvPr/>
        </p:nvSpPr>
        <p:spPr>
          <a:xfrm>
            <a:off x="3566160" y="2331720"/>
            <a:ext cx="2103120" cy="411480"/>
          </a:xfrm>
          <a:prstGeom prst="rect">
            <a:avLst/>
          </a:prstGeom>
          <a:noFill/>
          <a:ln/>
        </p:spPr>
        <p:txBody>
          <a:bodyPr wrap="square" lIns="0" tIns="0" rIns="0" bIns="0" rtlCol="0" anchor="ctr"/>
          <a:lstStyle/>
          <a:p>
            <a:pPr indent="0" marL="0">
              <a:buNone/>
            </a:pPr>
            <a:r>
              <a:rPr lang="en-US" sz="2200" b="1" dirty="0">
                <a:solidFill>
                  <a:schemeClr val="bg1"/>
                </a:solidFill>
              </a:rPr>
              <a:t>Chat</a:t>
            </a:r>
            <a:endParaRPr lang="en-US" sz="2200" dirty="0"/>
          </a:p>
        </p:txBody>
      </p:sp>
      <p:sp>
        <p:nvSpPr>
          <p:cNvPr id="14" name="Text 10"/>
          <p:cNvSpPr txBox="1"/>
          <p:nvPr/>
        </p:nvSpPr>
        <p:spPr>
          <a:xfrm>
            <a:off x="3566160" y="2743200"/>
            <a:ext cx="2103120" cy="731520"/>
          </a:xfrm>
          <a:prstGeom prst="rect">
            <a:avLst/>
          </a:prstGeom>
          <a:noFill/>
          <a:ln/>
        </p:spPr>
        <p:txBody>
          <a:bodyPr wrap="square" lIns="0" tIns="0" rIns="0" bIns="0" rtlCol="0" anchor="t"/>
          <a:lstStyle/>
          <a:p>
            <a:pPr indent="0" marL="0">
              <a:buNone/>
            </a:pPr>
            <a:r>
              <a:rPr lang="en-US" sz="1500" dirty="0">
                <a:solidFill>
                  <a:schemeClr val="bg2"/>
                </a:solidFill>
              </a:rPr>
              <a:t>writes a function</a:t>
            </a:r>
            <a:endParaRPr lang="en-US" sz="1500" dirty="0"/>
          </a:p>
        </p:txBody>
      </p:sp>
      <p:sp>
        <p:nvSpPr>
          <p:cNvPr id="15" name="era-arrow"/>
          <p:cNvSpPr/>
          <p:nvPr/>
        </p:nvSpPr>
        <p:spPr>
          <a:xfrm>
            <a:off x="5879592" y="2423160"/>
            <a:ext cx="219456" cy="274320"/>
          </a:xfrm>
          <a:prstGeom prst="rightArrow">
            <a:avLst/>
          </a:prstGeom>
          <a:solidFill>
            <a:srgbClr val="3D5A52"/>
          </a:solidFill>
          <a:ln w="12700">
            <a:solidFill>
              <a:srgbClr val="3D5A52"/>
            </a:solidFill>
            <a:prstDash val="solid"/>
          </a:ln>
        </p:spPr>
      </p:sp>
      <p:sp>
        <p:nvSpPr>
          <p:cNvPr id="16" name="Text 12"/>
          <p:cNvSpPr txBox="1"/>
          <p:nvPr/>
        </p:nvSpPr>
        <p:spPr>
          <a:xfrm>
            <a:off x="3291840" y="3977640"/>
            <a:ext cx="2560320" cy="365760"/>
          </a:xfrm>
          <a:prstGeom prst="rect">
            <a:avLst/>
          </a:prstGeom>
          <a:noFill/>
          <a:ln/>
        </p:spPr>
        <p:txBody>
          <a:bodyPr wrap="square" lIns="0" tIns="0" rIns="0" bIns="0" rtlCol="0" anchor="ctr"/>
          <a:lstStyle/>
          <a:p>
            <a:pPr algn="ctr" indent="0" marL="0">
              <a:buNone/>
            </a:pPr>
            <a:r>
              <a:rPr lang="en-US" sz="1600" b="1" dirty="0">
                <a:solidFill>
                  <a:schemeClr val="accent4"/>
                </a:solidFill>
              </a:rPr>
              <a:t>You copy &amp; paste</a:t>
            </a:r>
            <a:endParaRPr lang="en-US" sz="1600" dirty="0"/>
          </a:p>
        </p:txBody>
      </p:sp>
      <p:sp>
        <p:nvSpPr>
          <p:cNvPr id="17" name="card"/>
          <p:cNvSpPr/>
          <p:nvPr/>
        </p:nvSpPr>
        <p:spPr>
          <a:xfrm>
            <a:off x="6126480" y="1280160"/>
            <a:ext cx="2560320" cy="2514600"/>
          </a:xfrm>
          <a:prstGeom prst="roundRect">
            <a:avLst>
              <a:gd name="adj" fmla="val 4364"/>
            </a:avLst>
          </a:prstGeom>
          <a:solidFill>
            <a:schemeClr val="tx2"/>
          </a:solidFill>
          <a:ln w="12700">
            <a:solidFill>
              <a:schemeClr val="tx2"/>
            </a:solidFill>
            <a:prstDash val="solid"/>
          </a:ln>
        </p:spPr>
      </p:sp>
      <p:sp>
        <p:nvSpPr>
          <p:cNvPr id="18" name="icon-bg-FaRobot"/>
          <p:cNvSpPr/>
          <p:nvPr/>
        </p:nvSpPr>
        <p:spPr>
          <a:xfrm>
            <a:off x="6400800" y="1508760"/>
            <a:ext cx="685800" cy="685800"/>
          </a:xfrm>
          <a:prstGeom prst="ellipse">
            <a:avLst/>
          </a:prstGeom>
          <a:solidFill>
            <a:schemeClr val="accent1"/>
          </a:solidFill>
          <a:ln w="12700">
            <a:solidFill>
              <a:schemeClr val="accent1"/>
            </a:solidFill>
            <a:prstDash val="solid"/>
          </a:ln>
        </p:spPr>
      </p:sp>
      <p:pic>
        <p:nvPicPr>
          <p:cNvPr id="19" name="icon-FaRobot" descr="preencoded.png">    </p:cNvPr>
          <p:cNvPicPr>
            <a:picLocks noChangeAspect="1"/>
          </p:cNvPicPr>
          <p:nvPr/>
        </p:nvPicPr>
        <p:blipFill>
          <a:blip r:embed="rId3"/>
          <a:stretch>
            <a:fillRect/>
          </a:stretch>
        </p:blipFill>
        <p:spPr>
          <a:xfrm>
            <a:off x="6572250" y="1680210"/>
            <a:ext cx="342900" cy="342900"/>
          </a:xfrm>
          <a:prstGeom prst="rect">
            <a:avLst/>
          </a:prstGeom>
        </p:spPr>
      </p:pic>
      <p:sp>
        <p:nvSpPr>
          <p:cNvPr id="20" name="Text 15"/>
          <p:cNvSpPr txBox="1"/>
          <p:nvPr/>
        </p:nvSpPr>
        <p:spPr>
          <a:xfrm>
            <a:off x="6400800" y="2331720"/>
            <a:ext cx="2103120" cy="411480"/>
          </a:xfrm>
          <a:prstGeom prst="rect">
            <a:avLst/>
          </a:prstGeom>
          <a:noFill/>
          <a:ln/>
        </p:spPr>
        <p:txBody>
          <a:bodyPr wrap="square" lIns="0" tIns="0" rIns="0" bIns="0" rtlCol="0" anchor="ctr"/>
          <a:lstStyle/>
          <a:p>
            <a:pPr indent="0" marL="0">
              <a:buNone/>
            </a:pPr>
            <a:r>
              <a:rPr lang="en-US" sz="2200" b="1" dirty="0">
                <a:solidFill>
                  <a:schemeClr val="bg1"/>
                </a:solidFill>
              </a:rPr>
              <a:t>Agent</a:t>
            </a:r>
            <a:endParaRPr lang="en-US" sz="2200" dirty="0"/>
          </a:p>
        </p:txBody>
      </p:sp>
      <p:sp>
        <p:nvSpPr>
          <p:cNvPr id="21" name="Text 16"/>
          <p:cNvSpPr txBox="1"/>
          <p:nvPr/>
        </p:nvSpPr>
        <p:spPr>
          <a:xfrm>
            <a:off x="6400800" y="2743200"/>
            <a:ext cx="2103120" cy="731520"/>
          </a:xfrm>
          <a:prstGeom prst="rect">
            <a:avLst/>
          </a:prstGeom>
          <a:noFill/>
          <a:ln/>
        </p:spPr>
        <p:txBody>
          <a:bodyPr wrap="square" lIns="0" tIns="0" rIns="0" bIns="0" rtlCol="0" anchor="t"/>
          <a:lstStyle/>
          <a:p>
            <a:pPr indent="0" marL="0">
              <a:buNone/>
            </a:pPr>
            <a:r>
              <a:rPr lang="en-US" sz="1500" dirty="0">
                <a:solidFill>
                  <a:schemeClr val="bg2"/>
                </a:solidFill>
              </a:rPr>
              <a:t>plans, edits files, runs tests, iterates</a:t>
            </a:r>
            <a:endParaRPr lang="en-US" sz="1500" dirty="0"/>
          </a:p>
        </p:txBody>
      </p:sp>
      <p:sp>
        <p:nvSpPr>
          <p:cNvPr id="22" name="Text 17"/>
          <p:cNvSpPr txBox="1"/>
          <p:nvPr/>
        </p:nvSpPr>
        <p:spPr>
          <a:xfrm>
            <a:off x="6126480" y="3977640"/>
            <a:ext cx="2560320" cy="365760"/>
          </a:xfrm>
          <a:prstGeom prst="rect">
            <a:avLst/>
          </a:prstGeom>
          <a:noFill/>
          <a:ln/>
        </p:spPr>
        <p:txBody>
          <a:bodyPr wrap="square" lIns="0" tIns="0" rIns="0" bIns="0" rtlCol="0" anchor="ctr"/>
          <a:lstStyle/>
          <a:p>
            <a:pPr algn="ctr" indent="0" marL="0">
              <a:buNone/>
            </a:pPr>
            <a:r>
              <a:rPr lang="en-US" sz="1600" b="1" dirty="0">
                <a:solidFill>
                  <a:schemeClr val="accent1"/>
                </a:solidFill>
              </a:rPr>
              <a:t>You define &amp; review</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What an agent really is</a:t>
            </a:r>
            <a:endParaRPr lang="en-US" sz="3200" dirty="0"/>
          </a:p>
        </p:txBody>
      </p:sp>
      <p:pic>
        <p:nvPicPr>
          <p:cNvPr id="3" name="agent-loop" descr="img/agent-loop.png">    </p:cNvPr>
          <p:cNvPicPr>
            <a:picLocks noChangeAspect="1"/>
          </p:cNvPicPr>
          <p:nvPr/>
        </p:nvPicPr>
        <p:blipFill>
          <a:blip r:embed="rId1"/>
          <a:stretch>
            <a:fillRect/>
          </a:stretch>
        </p:blipFill>
        <p:spPr>
          <a:xfrm>
            <a:off x="365760" y="1051560"/>
            <a:ext cx="4206240" cy="3551936"/>
          </a:xfrm>
          <a:prstGeom prst="rect">
            <a:avLst/>
          </a:prstGeom>
        </p:spPr>
      </p:pic>
      <p:sp>
        <p:nvSpPr>
          <p:cNvPr id="4" name="icon-bg-FaTerminal"/>
          <p:cNvSpPr/>
          <p:nvPr/>
        </p:nvSpPr>
        <p:spPr>
          <a:xfrm>
            <a:off x="4937760" y="1234440"/>
            <a:ext cx="502920" cy="502920"/>
          </a:xfrm>
          <a:prstGeom prst="ellipse">
            <a:avLst/>
          </a:prstGeom>
          <a:solidFill>
            <a:schemeClr val="accent3"/>
          </a:solidFill>
          <a:ln w="12700">
            <a:solidFill>
              <a:schemeClr val="accent3"/>
            </a:solidFill>
            <a:prstDash val="solid"/>
          </a:ln>
        </p:spPr>
      </p:sp>
      <p:pic>
        <p:nvPicPr>
          <p:cNvPr id="5" name="icon-FaTerminal" descr="preencoded.png">    </p:cNvPr>
          <p:cNvPicPr>
            <a:picLocks noChangeAspect="1"/>
          </p:cNvPicPr>
          <p:nvPr/>
        </p:nvPicPr>
        <p:blipFill>
          <a:blip r:embed="rId2"/>
          <a:stretch>
            <a:fillRect/>
          </a:stretch>
        </p:blipFill>
        <p:spPr>
          <a:xfrm>
            <a:off x="5063490" y="1360170"/>
            <a:ext cx="251460" cy="251460"/>
          </a:xfrm>
          <a:prstGeom prst="rect">
            <a:avLst/>
          </a:prstGeom>
        </p:spPr>
      </p:pic>
      <p:sp>
        <p:nvSpPr>
          <p:cNvPr id="6" name="Text 2"/>
          <p:cNvSpPr txBox="1"/>
          <p:nvPr/>
        </p:nvSpPr>
        <p:spPr>
          <a:xfrm>
            <a:off x="5532120" y="1234440"/>
            <a:ext cx="1234440" cy="502920"/>
          </a:xfrm>
          <a:prstGeom prst="rect">
            <a:avLst/>
          </a:prstGeom>
          <a:noFill/>
          <a:ln/>
        </p:spPr>
        <p:txBody>
          <a:bodyPr wrap="square" lIns="0" tIns="0" rIns="0" bIns="0" rtlCol="0" anchor="ctr"/>
          <a:lstStyle/>
          <a:p>
            <a:pPr indent="0" marL="0">
              <a:buNone/>
            </a:pPr>
            <a:r>
              <a:rPr lang="en-US" sz="1500" b="1" dirty="0">
                <a:solidFill>
                  <a:schemeClr val="tx1"/>
                </a:solidFill>
              </a:rPr>
              <a:t>Shell</a:t>
            </a:r>
            <a:endParaRPr lang="en-US" sz="1500" dirty="0"/>
          </a:p>
        </p:txBody>
      </p:sp>
      <p:sp>
        <p:nvSpPr>
          <p:cNvPr id="7" name="icon-bg-FaFileCode"/>
          <p:cNvSpPr/>
          <p:nvPr/>
        </p:nvSpPr>
        <p:spPr>
          <a:xfrm>
            <a:off x="6812280" y="1234440"/>
            <a:ext cx="502920" cy="502920"/>
          </a:xfrm>
          <a:prstGeom prst="ellipse">
            <a:avLst/>
          </a:prstGeom>
          <a:solidFill>
            <a:schemeClr val="accent3"/>
          </a:solidFill>
          <a:ln w="12700">
            <a:solidFill>
              <a:schemeClr val="accent3"/>
            </a:solidFill>
            <a:prstDash val="solid"/>
          </a:ln>
        </p:spPr>
      </p:sp>
      <p:pic>
        <p:nvPicPr>
          <p:cNvPr id="8" name="icon-FaFileCode" descr="preencoded.png">    </p:cNvPr>
          <p:cNvPicPr>
            <a:picLocks noChangeAspect="1"/>
          </p:cNvPicPr>
          <p:nvPr/>
        </p:nvPicPr>
        <p:blipFill>
          <a:blip r:embed="rId3"/>
          <a:stretch>
            <a:fillRect/>
          </a:stretch>
        </p:blipFill>
        <p:spPr>
          <a:xfrm>
            <a:off x="6938010" y="1360170"/>
            <a:ext cx="251460" cy="251460"/>
          </a:xfrm>
          <a:prstGeom prst="rect">
            <a:avLst/>
          </a:prstGeom>
        </p:spPr>
      </p:pic>
      <p:sp>
        <p:nvSpPr>
          <p:cNvPr id="9" name="Text 4"/>
          <p:cNvSpPr txBox="1"/>
          <p:nvPr/>
        </p:nvSpPr>
        <p:spPr>
          <a:xfrm>
            <a:off x="7406640" y="1234440"/>
            <a:ext cx="1234440" cy="502920"/>
          </a:xfrm>
          <a:prstGeom prst="rect">
            <a:avLst/>
          </a:prstGeom>
          <a:noFill/>
          <a:ln/>
        </p:spPr>
        <p:txBody>
          <a:bodyPr wrap="square" lIns="0" tIns="0" rIns="0" bIns="0" rtlCol="0" anchor="ctr"/>
          <a:lstStyle/>
          <a:p>
            <a:pPr indent="0" marL="0">
              <a:buNone/>
            </a:pPr>
            <a:r>
              <a:rPr lang="en-US" sz="1500" b="1" dirty="0">
                <a:solidFill>
                  <a:schemeClr val="tx1"/>
                </a:solidFill>
              </a:rPr>
              <a:t>Files</a:t>
            </a:r>
            <a:endParaRPr lang="en-US" sz="1500" dirty="0"/>
          </a:p>
        </p:txBody>
      </p:sp>
      <p:sp>
        <p:nvSpPr>
          <p:cNvPr id="10" name="icon-bg-FaVial"/>
          <p:cNvSpPr/>
          <p:nvPr/>
        </p:nvSpPr>
        <p:spPr>
          <a:xfrm>
            <a:off x="4937760" y="1920240"/>
            <a:ext cx="502920" cy="502920"/>
          </a:xfrm>
          <a:prstGeom prst="ellipse">
            <a:avLst/>
          </a:prstGeom>
          <a:solidFill>
            <a:schemeClr val="accent3"/>
          </a:solidFill>
          <a:ln w="12700">
            <a:solidFill>
              <a:schemeClr val="accent3"/>
            </a:solidFill>
            <a:prstDash val="solid"/>
          </a:ln>
        </p:spPr>
      </p:sp>
      <p:pic>
        <p:nvPicPr>
          <p:cNvPr id="11" name="icon-FaVial" descr="preencoded.png">    </p:cNvPr>
          <p:cNvPicPr>
            <a:picLocks noChangeAspect="1"/>
          </p:cNvPicPr>
          <p:nvPr/>
        </p:nvPicPr>
        <p:blipFill>
          <a:blip r:embed="rId4"/>
          <a:stretch>
            <a:fillRect/>
          </a:stretch>
        </p:blipFill>
        <p:spPr>
          <a:xfrm>
            <a:off x="5063490" y="2045970"/>
            <a:ext cx="251460" cy="251460"/>
          </a:xfrm>
          <a:prstGeom prst="rect">
            <a:avLst/>
          </a:prstGeom>
        </p:spPr>
      </p:pic>
      <p:sp>
        <p:nvSpPr>
          <p:cNvPr id="12" name="Text 6"/>
          <p:cNvSpPr txBox="1"/>
          <p:nvPr/>
        </p:nvSpPr>
        <p:spPr>
          <a:xfrm>
            <a:off x="5532120" y="1920240"/>
            <a:ext cx="1234440" cy="502920"/>
          </a:xfrm>
          <a:prstGeom prst="rect">
            <a:avLst/>
          </a:prstGeom>
          <a:noFill/>
          <a:ln/>
        </p:spPr>
        <p:txBody>
          <a:bodyPr wrap="square" lIns="0" tIns="0" rIns="0" bIns="0" rtlCol="0" anchor="ctr"/>
          <a:lstStyle/>
          <a:p>
            <a:pPr indent="0" marL="0">
              <a:buNone/>
            </a:pPr>
            <a:r>
              <a:rPr lang="en-US" sz="1500" b="1" dirty="0">
                <a:solidFill>
                  <a:schemeClr val="tx1"/>
                </a:solidFill>
              </a:rPr>
              <a:t>Tests</a:t>
            </a:r>
            <a:endParaRPr lang="en-US" sz="1500" dirty="0"/>
          </a:p>
        </p:txBody>
      </p:sp>
      <p:sp>
        <p:nvSpPr>
          <p:cNvPr id="13" name="icon-bg-FaGlobe"/>
          <p:cNvSpPr/>
          <p:nvPr/>
        </p:nvSpPr>
        <p:spPr>
          <a:xfrm>
            <a:off x="6812280" y="1920240"/>
            <a:ext cx="502920" cy="502920"/>
          </a:xfrm>
          <a:prstGeom prst="ellipse">
            <a:avLst/>
          </a:prstGeom>
          <a:solidFill>
            <a:schemeClr val="accent3"/>
          </a:solidFill>
          <a:ln w="12700">
            <a:solidFill>
              <a:schemeClr val="accent3"/>
            </a:solidFill>
            <a:prstDash val="solid"/>
          </a:ln>
        </p:spPr>
      </p:sp>
      <p:pic>
        <p:nvPicPr>
          <p:cNvPr id="14" name="icon-FaGlobe" descr="preencoded.png">    </p:cNvPr>
          <p:cNvPicPr>
            <a:picLocks noChangeAspect="1"/>
          </p:cNvPicPr>
          <p:nvPr/>
        </p:nvPicPr>
        <p:blipFill>
          <a:blip r:embed="rId5"/>
          <a:stretch>
            <a:fillRect/>
          </a:stretch>
        </p:blipFill>
        <p:spPr>
          <a:xfrm>
            <a:off x="6938010" y="2045970"/>
            <a:ext cx="251460" cy="251460"/>
          </a:xfrm>
          <a:prstGeom prst="rect">
            <a:avLst/>
          </a:prstGeom>
        </p:spPr>
      </p:pic>
      <p:sp>
        <p:nvSpPr>
          <p:cNvPr id="15" name="Text 8"/>
          <p:cNvSpPr txBox="1"/>
          <p:nvPr/>
        </p:nvSpPr>
        <p:spPr>
          <a:xfrm>
            <a:off x="7406640" y="1920240"/>
            <a:ext cx="1234440" cy="502920"/>
          </a:xfrm>
          <a:prstGeom prst="rect">
            <a:avLst/>
          </a:prstGeom>
          <a:noFill/>
          <a:ln/>
        </p:spPr>
        <p:txBody>
          <a:bodyPr wrap="square" lIns="0" tIns="0" rIns="0" bIns="0" rtlCol="0" anchor="ctr"/>
          <a:lstStyle/>
          <a:p>
            <a:pPr indent="0" marL="0">
              <a:buNone/>
            </a:pPr>
            <a:r>
              <a:rPr lang="en-US" sz="1500" b="1" dirty="0">
                <a:solidFill>
                  <a:schemeClr val="tx1"/>
                </a:solidFill>
              </a:rPr>
              <a:t>Web &amp; APIs</a:t>
            </a:r>
            <a:endParaRPr lang="en-US" sz="1500" dirty="0"/>
          </a:p>
        </p:txBody>
      </p:sp>
      <p:sp>
        <p:nvSpPr>
          <p:cNvPr id="16" name="bullets"/>
          <p:cNvSpPr txBox="1"/>
          <p:nvPr/>
        </p:nvSpPr>
        <p:spPr>
          <a:xfrm>
            <a:off x="4937760" y="2743200"/>
            <a:ext cx="3749040" cy="1737360"/>
          </a:xfrm>
          <a:prstGeom prst="rect">
            <a:avLst/>
          </a:prstGeom>
          <a:noFill/>
          <a:ln/>
        </p:spPr>
        <p:txBody>
          <a:bodyPr wrap="square" lIns="0" tIns="0" rIns="0" bIns="0" rtlCol="0" anchor="t"/>
          <a:lstStyle/>
          <a:p>
            <a:pPr marL="190500" indent="-190500">
              <a:spcAft>
                <a:spcPts val="1000"/>
              </a:spcAft>
              <a:buSzPct val="100000"/>
              <a:buChar char="•"/>
            </a:pPr>
            <a:r>
              <a:rPr lang="en-US" sz="1600" b="1" dirty="0">
                <a:solidFill>
                  <a:schemeClr val="tx1"/>
                </a:solidFill>
              </a:rPr>
              <a:t>An LLM in a loop</a:t>
            </a:r>
            <a:pPr indent="0" marL="0">
              <a:spcAft>
                <a:spcPts val="1000"/>
              </a:spcAft>
              <a:buNone/>
            </a:pPr>
            <a:r>
              <a:rPr lang="en-US" sz="1600" dirty="0">
                <a:solidFill>
                  <a:schemeClr val="tx2"/>
                </a:solidFill>
              </a:rPr>
              <a:t> with tools</a:t>
            </a:r>
            <a:endParaRPr lang="en-US" sz="1600" dirty="0"/>
          </a:p>
          <a:p>
            <a:pPr marL="190500" indent="-190500">
              <a:spcAft>
                <a:spcPts val="1000"/>
              </a:spcAft>
              <a:buSzPct val="100000"/>
              <a:buChar char="•"/>
            </a:pPr>
            <a:r>
              <a:rPr lang="en-US" sz="1600" b="1" dirty="0">
                <a:solidFill>
                  <a:schemeClr val="tx1"/>
                </a:solidFill>
              </a:rPr>
              <a:t>Stops when the goal looks met</a:t>
            </a:r>
            <a:pPr indent="0" marL="0">
              <a:spcAft>
                <a:spcPts val="1000"/>
              </a:spcAft>
              <a:buNone/>
            </a:pPr>
            <a:r>
              <a:rPr lang="en-US" sz="1600" dirty="0">
                <a:solidFill>
                  <a:schemeClr val="tx2"/>
                </a:solidFill>
              </a:rPr>
              <a:t> — to it</a:t>
            </a:r>
            <a:endParaRPr lang="en-US" sz="1600" dirty="0"/>
          </a:p>
          <a:p>
            <a:pPr marL="190500" indent="-190500">
              <a:spcAft>
                <a:spcPts val="1000"/>
              </a:spcAft>
              <a:buSzPct val="100000"/>
              <a:buChar char="•"/>
            </a:pPr>
            <a:r>
              <a:rPr lang="en-US" sz="1600" b="1" dirty="0">
                <a:solidFill>
                  <a:schemeClr val="tx1"/>
                </a:solidFill>
              </a:rPr>
              <a:t>Quality =</a:t>
            </a:r>
            <a:pPr indent="0" marL="0">
              <a:spcAft>
                <a:spcPts val="1000"/>
              </a:spcAft>
              <a:buNone/>
            </a:pPr>
            <a:r>
              <a:rPr lang="en-US" sz="1600" dirty="0">
                <a:solidFill>
                  <a:schemeClr val="tx2"/>
                </a:solidFill>
              </a:rPr>
              <a:t> context × feedback</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Agentic engineering: you lead, it executes</a:t>
            </a:r>
            <a:endParaRPr lang="en-US" sz="3200" dirty="0"/>
          </a:p>
        </p:txBody>
      </p:sp>
      <p:sp>
        <p:nvSpPr>
          <p:cNvPr id="3" name="icon-bg-FaUserAstronaut"/>
          <p:cNvSpPr/>
          <p:nvPr/>
        </p:nvSpPr>
        <p:spPr>
          <a:xfrm>
            <a:off x="640080" y="1325880"/>
            <a:ext cx="822960" cy="822960"/>
          </a:xfrm>
          <a:prstGeom prst="ellipse">
            <a:avLst/>
          </a:prstGeom>
          <a:solidFill>
            <a:schemeClr val="tx1"/>
          </a:solidFill>
          <a:ln w="12700">
            <a:solidFill>
              <a:schemeClr val="tx1"/>
            </a:solidFill>
            <a:prstDash val="solid"/>
          </a:ln>
        </p:spPr>
      </p:sp>
      <p:pic>
        <p:nvPicPr>
          <p:cNvPr id="4" name="icon-FaUserAstronaut" descr="preencoded.png">    </p:cNvPr>
          <p:cNvPicPr>
            <a:picLocks noChangeAspect="1"/>
          </p:cNvPicPr>
          <p:nvPr/>
        </p:nvPicPr>
        <p:blipFill>
          <a:blip r:embed="rId1"/>
          <a:stretch>
            <a:fillRect/>
          </a:stretch>
        </p:blipFill>
        <p:spPr>
          <a:xfrm>
            <a:off x="845820" y="1531620"/>
            <a:ext cx="411480" cy="411480"/>
          </a:xfrm>
          <a:prstGeom prst="rect">
            <a:avLst/>
          </a:prstGeom>
        </p:spPr>
      </p:pic>
      <p:sp>
        <p:nvSpPr>
          <p:cNvPr id="5" name="icon-bg-FaRobot"/>
          <p:cNvSpPr/>
          <p:nvPr/>
        </p:nvSpPr>
        <p:spPr>
          <a:xfrm>
            <a:off x="7680960" y="1325880"/>
            <a:ext cx="822960" cy="822960"/>
          </a:xfrm>
          <a:prstGeom prst="ellipse">
            <a:avLst/>
          </a:prstGeom>
          <a:solidFill>
            <a:schemeClr val="accent1"/>
          </a:solidFill>
          <a:ln w="12700">
            <a:solidFill>
              <a:schemeClr val="accent1"/>
            </a:solidFill>
            <a:prstDash val="solid"/>
          </a:ln>
        </p:spPr>
      </p:sp>
      <p:pic>
        <p:nvPicPr>
          <p:cNvPr id="6" name="icon-FaRobot" descr="preencoded.png">    </p:cNvPr>
          <p:cNvPicPr>
            <a:picLocks noChangeAspect="1"/>
          </p:cNvPicPr>
          <p:nvPr/>
        </p:nvPicPr>
        <p:blipFill>
          <a:blip r:embed="rId2"/>
          <a:stretch>
            <a:fillRect/>
          </a:stretch>
        </p:blipFill>
        <p:spPr>
          <a:xfrm>
            <a:off x="7886700" y="1531620"/>
            <a:ext cx="411480" cy="411480"/>
          </a:xfrm>
          <a:prstGeom prst="rect">
            <a:avLst/>
          </a:prstGeom>
        </p:spPr>
      </p:pic>
      <p:sp>
        <p:nvSpPr>
          <p:cNvPr id="7" name="Text 3"/>
          <p:cNvSpPr txBox="1"/>
          <p:nvPr/>
        </p:nvSpPr>
        <p:spPr>
          <a:xfrm>
            <a:off x="1600200" y="1463040"/>
            <a:ext cx="2286000" cy="548640"/>
          </a:xfrm>
          <a:prstGeom prst="rect">
            <a:avLst/>
          </a:prstGeom>
          <a:noFill/>
          <a:ln/>
        </p:spPr>
        <p:txBody>
          <a:bodyPr wrap="square" lIns="0" tIns="0" rIns="0" bIns="0" rtlCol="0" anchor="ctr"/>
          <a:lstStyle/>
          <a:p>
            <a:pPr indent="0" marL="0">
              <a:buNone/>
            </a:pPr>
            <a:r>
              <a:rPr lang="en-US" sz="2400" b="1" dirty="0">
                <a:solidFill>
                  <a:schemeClr val="tx1"/>
                </a:solidFill>
              </a:rPr>
              <a:t>You</a:t>
            </a:r>
            <a:endParaRPr lang="en-US" sz="2400" dirty="0"/>
          </a:p>
        </p:txBody>
      </p:sp>
      <p:sp>
        <p:nvSpPr>
          <p:cNvPr id="8" name="Text 4"/>
          <p:cNvSpPr txBox="1"/>
          <p:nvPr/>
        </p:nvSpPr>
        <p:spPr>
          <a:xfrm>
            <a:off x="5166360" y="1463040"/>
            <a:ext cx="2331720" cy="548640"/>
          </a:xfrm>
          <a:prstGeom prst="rect">
            <a:avLst/>
          </a:prstGeom>
          <a:noFill/>
          <a:ln/>
        </p:spPr>
        <p:txBody>
          <a:bodyPr wrap="square" lIns="0" tIns="0" rIns="0" bIns="0" rtlCol="0" anchor="ctr"/>
          <a:lstStyle/>
          <a:p>
            <a:pPr algn="r" indent="0" marL="0">
              <a:buNone/>
            </a:pPr>
            <a:r>
              <a:rPr lang="en-US" sz="2400" b="1" dirty="0">
                <a:solidFill>
                  <a:schemeClr val="tx1"/>
                </a:solidFill>
              </a:rPr>
              <a:t>Agent</a:t>
            </a:r>
            <a:endParaRPr lang="en-US" sz="2400" dirty="0"/>
          </a:p>
        </p:txBody>
      </p:sp>
      <p:sp>
        <p:nvSpPr>
          <p:cNvPr id="9" name="bullets"/>
          <p:cNvSpPr txBox="1"/>
          <p:nvPr/>
        </p:nvSpPr>
        <p:spPr>
          <a:xfrm>
            <a:off x="685800" y="2423160"/>
            <a:ext cx="3017520" cy="2011680"/>
          </a:xfrm>
          <a:prstGeom prst="rect">
            <a:avLst/>
          </a:prstGeom>
          <a:noFill/>
          <a:ln/>
        </p:spPr>
        <p:txBody>
          <a:bodyPr wrap="square" lIns="0" tIns="0" rIns="0" bIns="0" rtlCol="0" anchor="t"/>
          <a:lstStyle/>
          <a:p>
            <a:pPr marL="190500" indent="-190500">
              <a:spcAft>
                <a:spcPts val="1000"/>
              </a:spcAft>
              <a:buSzPct val="100000"/>
              <a:buChar char="•"/>
            </a:pPr>
            <a:r>
              <a:rPr lang="en-US" sz="1600" dirty="0">
                <a:solidFill>
                  <a:schemeClr val="tx2"/>
                </a:solidFill>
              </a:rPr>
              <a:t>Set principles</a:t>
            </a:r>
            <a:endParaRPr lang="en-US" sz="1600" dirty="0"/>
          </a:p>
          <a:p>
            <a:pPr marL="190500" indent="-190500">
              <a:spcAft>
                <a:spcPts val="1000"/>
              </a:spcAft>
              <a:buSzPct val="100000"/>
              <a:buChar char="•"/>
            </a:pPr>
            <a:r>
              <a:rPr lang="en-US" sz="1600" dirty="0">
                <a:solidFill>
                  <a:schemeClr val="tx2"/>
                </a:solidFill>
              </a:rPr>
              <a:t>Describe intent</a:t>
            </a:r>
            <a:endParaRPr lang="en-US" sz="1600" dirty="0"/>
          </a:p>
          <a:p>
            <a:pPr marL="190500" indent="-190500">
              <a:spcAft>
                <a:spcPts val="1000"/>
              </a:spcAft>
              <a:buSzPct val="100000"/>
              <a:buChar char="•"/>
            </a:pPr>
            <a:r>
              <a:rPr lang="en-US" sz="1600" dirty="0">
                <a:solidFill>
                  <a:schemeClr val="tx2"/>
                </a:solidFill>
              </a:rPr>
              <a:t>Answer clarifications</a:t>
            </a:r>
            <a:endParaRPr lang="en-US" sz="1600" dirty="0"/>
          </a:p>
          <a:p>
            <a:pPr marL="190500" indent="-190500">
              <a:spcAft>
                <a:spcPts val="1000"/>
              </a:spcAft>
              <a:buSzPct val="100000"/>
              <a:buChar char="•"/>
            </a:pPr>
            <a:r>
              <a:rPr lang="en-US" sz="1600" dirty="0">
                <a:solidFill>
                  <a:schemeClr val="tx2"/>
                </a:solidFill>
              </a:rPr>
              <a:t>Approve every gate</a:t>
            </a:r>
            <a:endParaRPr lang="en-US" sz="1600" dirty="0"/>
          </a:p>
        </p:txBody>
      </p:sp>
      <p:sp>
        <p:nvSpPr>
          <p:cNvPr id="10" name="bullets"/>
          <p:cNvSpPr txBox="1"/>
          <p:nvPr/>
        </p:nvSpPr>
        <p:spPr>
          <a:xfrm>
            <a:off x="5440680" y="2423160"/>
            <a:ext cx="3017520" cy="2011680"/>
          </a:xfrm>
          <a:prstGeom prst="rect">
            <a:avLst/>
          </a:prstGeom>
          <a:noFill/>
          <a:ln/>
        </p:spPr>
        <p:txBody>
          <a:bodyPr wrap="square" lIns="0" tIns="0" rIns="0" bIns="0" rtlCol="0" anchor="t"/>
          <a:lstStyle/>
          <a:p>
            <a:pPr marL="190500" indent="-190500">
              <a:spcAft>
                <a:spcPts val="1000"/>
              </a:spcAft>
              <a:buSzPct val="100000"/>
              <a:buChar char="•"/>
            </a:pPr>
            <a:r>
              <a:rPr lang="en-US" sz="1600" dirty="0">
                <a:solidFill>
                  <a:schemeClr val="tx2"/>
                </a:solidFill>
              </a:rPr>
              <a:t>Drafts spec, plan, tasks</a:t>
            </a:r>
            <a:endParaRPr lang="en-US" sz="1600" dirty="0"/>
          </a:p>
          <a:p>
            <a:pPr marL="190500" indent="-190500">
              <a:spcAft>
                <a:spcPts val="1000"/>
              </a:spcAft>
              <a:buSzPct val="100000"/>
              <a:buChar char="•"/>
            </a:pPr>
            <a:r>
              <a:rPr lang="en-US" sz="1600" dirty="0">
                <a:solidFill>
                  <a:schemeClr val="tx2"/>
                </a:solidFill>
              </a:rPr>
              <a:t>Asks instead of guessing</a:t>
            </a:r>
            <a:endParaRPr lang="en-US" sz="1600" dirty="0"/>
          </a:p>
          <a:p>
            <a:pPr marL="190500" indent="-190500">
              <a:spcAft>
                <a:spcPts val="1000"/>
              </a:spcAft>
              <a:buSzPct val="100000"/>
              <a:buChar char="•"/>
            </a:pPr>
            <a:r>
              <a:rPr lang="en-US" sz="1600" dirty="0">
                <a:solidFill>
                  <a:schemeClr val="tx2"/>
                </a:solidFill>
              </a:rPr>
              <a:t>Writes tests, then code</a:t>
            </a:r>
            <a:endParaRPr lang="en-US" sz="1600" dirty="0"/>
          </a:p>
          <a:p>
            <a:pPr marL="190500" indent="-190500">
              <a:spcAft>
                <a:spcPts val="1000"/>
              </a:spcAft>
              <a:buSzPct val="100000"/>
              <a:buChar char="•"/>
            </a:pPr>
            <a:r>
              <a:rPr lang="en-US" sz="1600" dirty="0">
                <a:solidFill>
                  <a:schemeClr val="tx2"/>
                </a:solidFill>
              </a:rPr>
              <a:t>Checks its own consistency</a:t>
            </a:r>
            <a:endParaRPr lang="en-US" sz="1600" dirty="0"/>
          </a:p>
        </p:txBody>
      </p:sp>
      <p:sp>
        <p:nvSpPr>
          <p:cNvPr id="11" name="gate-spec"/>
          <p:cNvSpPr/>
          <p:nvPr/>
        </p:nvSpPr>
        <p:spPr>
          <a:xfrm>
            <a:off x="3931920" y="1417320"/>
            <a:ext cx="1280160" cy="548640"/>
          </a:xfrm>
          <a:prstGeom prst="roundRect">
            <a:avLst>
              <a:gd name="adj" fmla="val 50000"/>
            </a:avLst>
          </a:prstGeom>
          <a:solidFill>
            <a:schemeClr val="accent1"/>
          </a:solidFill>
          <a:ln w="12700">
            <a:solidFill>
              <a:schemeClr val="bg1"/>
            </a:solidFill>
            <a:prstDash val="solid"/>
          </a:ln>
        </p:spPr>
      </p:sp>
      <p:sp>
        <p:nvSpPr>
          <p:cNvPr id="12" name="Text 8"/>
          <p:cNvSpPr txBox="1"/>
          <p:nvPr/>
        </p:nvSpPr>
        <p:spPr>
          <a:xfrm>
            <a:off x="3931920" y="1417320"/>
            <a:ext cx="1280160" cy="548640"/>
          </a:xfrm>
          <a:prstGeom prst="rect">
            <a:avLst/>
          </a:prstGeom>
          <a:no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 spec</a:t>
            </a:r>
            <a:endParaRPr lang="en-US" sz="1500" dirty="0"/>
          </a:p>
        </p:txBody>
      </p:sp>
      <p:sp>
        <p:nvSpPr>
          <p:cNvPr id="13" name="gate-plan"/>
          <p:cNvSpPr/>
          <p:nvPr/>
        </p:nvSpPr>
        <p:spPr>
          <a:xfrm>
            <a:off x="3931920" y="2194560"/>
            <a:ext cx="1280160" cy="548640"/>
          </a:xfrm>
          <a:prstGeom prst="roundRect">
            <a:avLst>
              <a:gd name="adj" fmla="val 50000"/>
            </a:avLst>
          </a:prstGeom>
          <a:solidFill>
            <a:schemeClr val="accent3"/>
          </a:solidFill>
          <a:ln w="12700">
            <a:solidFill>
              <a:schemeClr val="bg1"/>
            </a:solidFill>
            <a:prstDash val="solid"/>
          </a:ln>
        </p:spPr>
      </p:sp>
      <p:sp>
        <p:nvSpPr>
          <p:cNvPr id="14" name="Text 10"/>
          <p:cNvSpPr txBox="1"/>
          <p:nvPr/>
        </p:nvSpPr>
        <p:spPr>
          <a:xfrm>
            <a:off x="3931920" y="2194560"/>
            <a:ext cx="1280160" cy="548640"/>
          </a:xfrm>
          <a:prstGeom prst="rect">
            <a:avLst/>
          </a:prstGeom>
          <a:no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 plan</a:t>
            </a:r>
            <a:endParaRPr lang="en-US" sz="1500" dirty="0"/>
          </a:p>
        </p:txBody>
      </p:sp>
      <p:sp>
        <p:nvSpPr>
          <p:cNvPr id="15" name="gate-tasks"/>
          <p:cNvSpPr/>
          <p:nvPr/>
        </p:nvSpPr>
        <p:spPr>
          <a:xfrm>
            <a:off x="3931920" y="2971800"/>
            <a:ext cx="1280160" cy="548640"/>
          </a:xfrm>
          <a:prstGeom prst="roundRect">
            <a:avLst>
              <a:gd name="adj" fmla="val 50000"/>
            </a:avLst>
          </a:prstGeom>
          <a:solidFill>
            <a:schemeClr val="accent4"/>
          </a:solidFill>
          <a:ln w="12700">
            <a:solidFill>
              <a:schemeClr val="bg1"/>
            </a:solidFill>
            <a:prstDash val="solid"/>
          </a:ln>
        </p:spPr>
      </p:sp>
      <p:sp>
        <p:nvSpPr>
          <p:cNvPr id="16" name="Text 12"/>
          <p:cNvSpPr txBox="1"/>
          <p:nvPr/>
        </p:nvSpPr>
        <p:spPr>
          <a:xfrm>
            <a:off x="3931920" y="2971800"/>
            <a:ext cx="1280160" cy="548640"/>
          </a:xfrm>
          <a:prstGeom prst="rect">
            <a:avLst/>
          </a:prstGeom>
          <a:no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 tasks</a:t>
            </a:r>
            <a:endParaRPr lang="en-US" sz="1500" dirty="0"/>
          </a:p>
        </p:txBody>
      </p:sp>
      <p:sp>
        <p:nvSpPr>
          <p:cNvPr id="17" name="gate-code"/>
          <p:cNvSpPr/>
          <p:nvPr/>
        </p:nvSpPr>
        <p:spPr>
          <a:xfrm>
            <a:off x="3931920" y="3749040"/>
            <a:ext cx="1280160" cy="548640"/>
          </a:xfrm>
          <a:prstGeom prst="roundRect">
            <a:avLst>
              <a:gd name="adj" fmla="val 50000"/>
            </a:avLst>
          </a:prstGeom>
          <a:solidFill>
            <a:schemeClr val="accent2"/>
          </a:solidFill>
          <a:ln w="12700">
            <a:solidFill>
              <a:schemeClr val="bg1"/>
            </a:solidFill>
            <a:prstDash val="solid"/>
          </a:ln>
        </p:spPr>
      </p:sp>
      <p:sp>
        <p:nvSpPr>
          <p:cNvPr id="18" name="Text 14"/>
          <p:cNvSpPr txBox="1"/>
          <p:nvPr/>
        </p:nvSpPr>
        <p:spPr>
          <a:xfrm>
            <a:off x="3931920" y="3749040"/>
            <a:ext cx="1280160" cy="548640"/>
          </a:xfrm>
          <a:prstGeom prst="rect">
            <a:avLst/>
          </a:prstGeom>
          <a:no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 code</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Context engineering</a:t>
            </a:r>
            <a:endParaRPr lang="en-US" sz="3200" dirty="0"/>
          </a:p>
        </p:txBody>
      </p:sp>
      <p:sp>
        <p:nvSpPr>
          <p:cNvPr id="3" name="layer-0"/>
          <p:cNvSpPr/>
          <p:nvPr/>
        </p:nvSpPr>
        <p:spPr>
          <a:xfrm>
            <a:off x="1371600" y="1188720"/>
            <a:ext cx="4206240" cy="548640"/>
          </a:xfrm>
          <a:prstGeom prst="roundRect">
            <a:avLst>
              <a:gd name="adj" fmla="val 16667"/>
            </a:avLst>
          </a:prstGeom>
          <a:solidFill>
            <a:schemeClr val="accent5"/>
          </a:solidFill>
          <a:ln w="12700">
            <a:solidFill>
              <a:schemeClr val="accent5"/>
            </a:solidFill>
            <a:prstDash val="solid"/>
          </a:ln>
        </p:spPr>
      </p:sp>
      <p:sp>
        <p:nvSpPr>
          <p:cNvPr id="4" name="Text 2"/>
          <p:cNvSpPr txBox="1"/>
          <p:nvPr/>
        </p:nvSpPr>
        <p:spPr>
          <a:xfrm>
            <a:off x="1554480" y="1188720"/>
            <a:ext cx="3840480" cy="548640"/>
          </a:xfrm>
          <a:prstGeom prst="rect">
            <a:avLst/>
          </a:prstGeom>
          <a:noFill/>
          <a:ln/>
        </p:spPr>
        <p:txBody>
          <a:bodyPr wrap="square" lIns="0" tIns="0" rIns="0" bIns="0" rtlCol="0" anchor="ctr"/>
          <a:lstStyle/>
          <a:p>
            <a:pPr algn="ctr" indent="0" marL="0">
              <a:buNone/>
            </a:pPr>
            <a:r>
              <a:rPr lang="en-US" sz="1500" b="1" dirty="0">
                <a:solidFill>
                  <a:schemeClr val="tx1"/>
                </a:solidFill>
              </a:rPr>
              <a:t>Rules / constitution</a:t>
            </a:r>
            <a:pPr algn="ctr" indent="0" marL="0">
              <a:buNone/>
            </a:pPr>
            <a:r>
              <a:rPr lang="en-US" sz="1500" dirty="0">
                <a:solidFill>
                  <a:schemeClr val="tx1"/>
                </a:solidFill>
              </a:rPr>
              <a:t>   always loaded · GEMINI.md</a:t>
            </a:r>
            <a:endParaRPr lang="en-US" sz="1500" dirty="0"/>
          </a:p>
        </p:txBody>
      </p:sp>
      <p:sp>
        <p:nvSpPr>
          <p:cNvPr id="5" name="layer-1"/>
          <p:cNvSpPr/>
          <p:nvPr/>
        </p:nvSpPr>
        <p:spPr>
          <a:xfrm>
            <a:off x="1143000" y="1847088"/>
            <a:ext cx="4663440" cy="548640"/>
          </a:xfrm>
          <a:prstGeom prst="roundRect">
            <a:avLst>
              <a:gd name="adj" fmla="val 16667"/>
            </a:avLst>
          </a:prstGeom>
          <a:solidFill>
            <a:schemeClr val="accent1"/>
          </a:solidFill>
          <a:ln w="12700">
            <a:solidFill>
              <a:schemeClr val="accent1"/>
            </a:solidFill>
            <a:prstDash val="solid"/>
          </a:ln>
        </p:spPr>
      </p:sp>
      <p:sp>
        <p:nvSpPr>
          <p:cNvPr id="6" name="Text 4"/>
          <p:cNvSpPr txBox="1"/>
          <p:nvPr/>
        </p:nvSpPr>
        <p:spPr>
          <a:xfrm>
            <a:off x="1325880" y="1847088"/>
            <a:ext cx="4297680" cy="548640"/>
          </a:xfrm>
          <a:prstGeom prst="rect">
            <a:avLst/>
          </a:prstGeom>
          <a:noFill/>
          <a:ln/>
        </p:spPr>
        <p:txBody>
          <a:bodyPr wrap="square" lIns="0" tIns="0" rIns="0" bIns="0" rtlCol="0" anchor="ctr"/>
          <a:lstStyle/>
          <a:p>
            <a:pPr algn="ctr" indent="0" marL="0">
              <a:buNone/>
            </a:pPr>
            <a:r>
              <a:rPr lang="en-US" sz="1500" b="1" dirty="0">
                <a:solidFill>
                  <a:schemeClr val="tx1"/>
                </a:solidFill>
              </a:rPr>
              <a:t>Spec</a:t>
            </a:r>
            <a:pPr algn="ctr" indent="0" marL="0">
              <a:buNone/>
            </a:pPr>
            <a:r>
              <a:rPr lang="en-US" sz="1500" dirty="0">
                <a:solidFill>
                  <a:schemeClr val="tx1"/>
                </a:solidFill>
              </a:rPr>
              <a:t>   what &amp; why</a:t>
            </a:r>
            <a:endParaRPr lang="en-US" sz="1500" dirty="0"/>
          </a:p>
        </p:txBody>
      </p:sp>
      <p:sp>
        <p:nvSpPr>
          <p:cNvPr id="7" name="layer-2"/>
          <p:cNvSpPr/>
          <p:nvPr/>
        </p:nvSpPr>
        <p:spPr>
          <a:xfrm>
            <a:off x="914400" y="2505456"/>
            <a:ext cx="5120640" cy="548640"/>
          </a:xfrm>
          <a:prstGeom prst="roundRect">
            <a:avLst>
              <a:gd name="adj" fmla="val 16667"/>
            </a:avLst>
          </a:prstGeom>
          <a:solidFill>
            <a:schemeClr val="accent3"/>
          </a:solidFill>
          <a:ln w="12700">
            <a:solidFill>
              <a:schemeClr val="accent3"/>
            </a:solidFill>
            <a:prstDash val="solid"/>
          </a:ln>
        </p:spPr>
      </p:sp>
      <p:sp>
        <p:nvSpPr>
          <p:cNvPr id="8" name="Text 6"/>
          <p:cNvSpPr txBox="1"/>
          <p:nvPr/>
        </p:nvSpPr>
        <p:spPr>
          <a:xfrm>
            <a:off x="1097280" y="2505456"/>
            <a:ext cx="4754880" cy="548640"/>
          </a:xfrm>
          <a:prstGeom prst="rect">
            <a:avLst/>
          </a:prstGeom>
          <a:noFill/>
          <a:ln/>
        </p:spPr>
        <p:txBody>
          <a:bodyPr wrap="square" lIns="0" tIns="0" rIns="0" bIns="0" rtlCol="0" anchor="ctr"/>
          <a:lstStyle/>
          <a:p>
            <a:pPr algn="ctr" indent="0" marL="0">
              <a:buNone/>
            </a:pPr>
            <a:r>
              <a:rPr lang="en-US" sz="1500" b="1" dirty="0">
                <a:solidFill>
                  <a:schemeClr val="tx1"/>
                </a:solidFill>
              </a:rPr>
              <a:t>Plan</a:t>
            </a:r>
            <a:pPr algn="ctr" indent="0" marL="0">
              <a:buNone/>
            </a:pPr>
            <a:r>
              <a:rPr lang="en-US" sz="1500" dirty="0">
                <a:solidFill>
                  <a:schemeClr val="tx1"/>
                </a:solidFill>
              </a:rPr>
              <a:t>   how · decisions</a:t>
            </a:r>
            <a:endParaRPr lang="en-US" sz="1500" dirty="0"/>
          </a:p>
        </p:txBody>
      </p:sp>
      <p:sp>
        <p:nvSpPr>
          <p:cNvPr id="9" name="layer-3"/>
          <p:cNvSpPr/>
          <p:nvPr/>
        </p:nvSpPr>
        <p:spPr>
          <a:xfrm>
            <a:off x="685800" y="3163824"/>
            <a:ext cx="5577840" cy="548640"/>
          </a:xfrm>
          <a:prstGeom prst="roundRect">
            <a:avLst>
              <a:gd name="adj" fmla="val 16667"/>
            </a:avLst>
          </a:prstGeom>
          <a:solidFill>
            <a:schemeClr val="accent4"/>
          </a:solidFill>
          <a:ln w="12700">
            <a:solidFill>
              <a:schemeClr val="accent4"/>
            </a:solidFill>
            <a:prstDash val="solid"/>
          </a:ln>
        </p:spPr>
      </p:sp>
      <p:sp>
        <p:nvSpPr>
          <p:cNvPr id="10" name="Text 8"/>
          <p:cNvSpPr txBox="1"/>
          <p:nvPr/>
        </p:nvSpPr>
        <p:spPr>
          <a:xfrm>
            <a:off x="868680" y="3163824"/>
            <a:ext cx="5212080" cy="548640"/>
          </a:xfrm>
          <a:prstGeom prst="rect">
            <a:avLst/>
          </a:prstGeom>
          <a:noFill/>
          <a:ln/>
        </p:spPr>
        <p:txBody>
          <a:bodyPr wrap="square" lIns="0" tIns="0" rIns="0" bIns="0" rtlCol="0" anchor="ctr"/>
          <a:lstStyle/>
          <a:p>
            <a:pPr algn="ctr" indent="0" marL="0">
              <a:buNone/>
            </a:pPr>
            <a:r>
              <a:rPr lang="en-US" sz="1500" b="1" dirty="0">
                <a:solidFill>
                  <a:schemeClr val="tx1"/>
                </a:solidFill>
              </a:rPr>
              <a:t>Tasks</a:t>
            </a:r>
            <a:pPr algn="ctr" indent="0" marL="0">
              <a:buNone/>
            </a:pPr>
            <a:r>
              <a:rPr lang="en-US" sz="1500" dirty="0">
                <a:solidFill>
                  <a:schemeClr val="tx1"/>
                </a:solidFill>
              </a:rPr>
              <a:t>   the next small step</a:t>
            </a:r>
            <a:endParaRPr lang="en-US" sz="1500" dirty="0"/>
          </a:p>
        </p:txBody>
      </p:sp>
      <p:sp>
        <p:nvSpPr>
          <p:cNvPr id="11" name="layer-4"/>
          <p:cNvSpPr/>
          <p:nvPr/>
        </p:nvSpPr>
        <p:spPr>
          <a:xfrm>
            <a:off x="457200" y="3822192"/>
            <a:ext cx="6035040" cy="548640"/>
          </a:xfrm>
          <a:prstGeom prst="roundRect">
            <a:avLst>
              <a:gd name="adj" fmla="val 16667"/>
            </a:avLst>
          </a:prstGeom>
          <a:solidFill>
            <a:schemeClr val="accent2"/>
          </a:solidFill>
          <a:ln w="12700">
            <a:solidFill>
              <a:schemeClr val="accent2"/>
            </a:solidFill>
            <a:prstDash val="solid"/>
          </a:ln>
        </p:spPr>
      </p:sp>
      <p:sp>
        <p:nvSpPr>
          <p:cNvPr id="12" name="Text 10"/>
          <p:cNvSpPr txBox="1"/>
          <p:nvPr/>
        </p:nvSpPr>
        <p:spPr>
          <a:xfrm>
            <a:off x="640080" y="3822192"/>
            <a:ext cx="5669280" cy="548640"/>
          </a:xfrm>
          <a:prstGeom prst="rect">
            <a:avLst/>
          </a:prstGeom>
          <a:noFill/>
          <a:ln/>
        </p:spPr>
        <p:txBody>
          <a:bodyPr wrap="square" lIns="0" tIns="0" rIns="0" bIns="0" rtlCol="0" anchor="ctr"/>
          <a:lstStyle/>
          <a:p>
            <a:pPr algn="ctr" indent="0" marL="0">
              <a:buNone/>
            </a:pPr>
            <a:r>
              <a:rPr lang="en-US" sz="1500" b="1" dirty="0">
                <a:solidFill>
                  <a:schemeClr val="tx1"/>
                </a:solidFill>
              </a:rPr>
              <a:t>Code &amp; tests</a:t>
            </a:r>
            <a:pPr algn="ctr" indent="0" marL="0">
              <a:buNone/>
            </a:pPr>
            <a:r>
              <a:rPr lang="en-US" sz="1500" dirty="0">
                <a:solidFill>
                  <a:schemeClr val="tx1"/>
                </a:solidFill>
              </a:rPr>
              <a:t>   ground truth</a:t>
            </a:r>
            <a:endParaRPr lang="en-US" sz="1500" dirty="0"/>
          </a:p>
        </p:txBody>
      </p:sp>
      <p:sp>
        <p:nvSpPr>
          <p:cNvPr id="13" name="bullets"/>
          <p:cNvSpPr txBox="1"/>
          <p:nvPr/>
        </p:nvSpPr>
        <p:spPr>
          <a:xfrm>
            <a:off x="6720840" y="1280160"/>
            <a:ext cx="1965960" cy="3108960"/>
          </a:xfrm>
          <a:prstGeom prst="rect">
            <a:avLst/>
          </a:prstGeom>
          <a:noFill/>
          <a:ln/>
        </p:spPr>
        <p:txBody>
          <a:bodyPr wrap="square" lIns="0" tIns="0" rIns="0" bIns="0" rtlCol="0" anchor="t"/>
          <a:lstStyle/>
          <a:p>
            <a:pPr marL="190500" indent="-190500">
              <a:spcAft>
                <a:spcPts val="1000"/>
              </a:spcAft>
              <a:buSzPct val="100000"/>
              <a:buChar char="•"/>
            </a:pPr>
            <a:r>
              <a:rPr lang="en-US" sz="1500" b="1" dirty="0">
                <a:solidFill>
                  <a:schemeClr val="tx1"/>
                </a:solidFill>
              </a:rPr>
              <a:t>Files, not chat</a:t>
            </a:r>
            <a:pPr indent="0" marL="0">
              <a:spcAft>
                <a:spcPts val="1000"/>
              </a:spcAft>
              <a:buNone/>
            </a:pPr>
            <a:r>
              <a:rPr lang="en-US" sz="1500" dirty="0">
                <a:solidFill>
                  <a:schemeClr val="tx2"/>
                </a:solidFill>
              </a:rPr>
              <a:t> — context survives sessions</a:t>
            </a:r>
            <a:endParaRPr lang="en-US" sz="1500" dirty="0"/>
          </a:p>
          <a:p>
            <a:pPr marL="190500" indent="-190500">
              <a:spcAft>
                <a:spcPts val="1000"/>
              </a:spcAft>
              <a:buSzPct val="100000"/>
              <a:buChar char="•"/>
            </a:pPr>
            <a:r>
              <a:rPr lang="en-US" sz="1500" b="1" dirty="0">
                <a:solidFill>
                  <a:schemeClr val="tx1"/>
                </a:solidFill>
              </a:rPr>
              <a:t>Small &amp; relevant</a:t>
            </a:r>
            <a:pPr indent="0" marL="0">
              <a:spcAft>
                <a:spcPts val="1000"/>
              </a:spcAft>
              <a:buNone/>
            </a:pPr>
            <a:r>
              <a:rPr lang="en-US" sz="1500" dirty="0">
                <a:solidFill>
                  <a:schemeClr val="tx2"/>
                </a:solidFill>
              </a:rPr>
              <a:t> beats big &amp; noisy</a:t>
            </a:r>
            <a:endParaRPr lang="en-US" sz="1500" dirty="0"/>
          </a:p>
          <a:p>
            <a:pPr marL="190500" indent="-190500">
              <a:spcAft>
                <a:spcPts val="1000"/>
              </a:spcAft>
              <a:buSzPct val="100000"/>
              <a:buChar char="•"/>
            </a:pPr>
            <a:r>
              <a:rPr lang="en-US" sz="1500" b="1" dirty="0">
                <a:solidFill>
                  <a:schemeClr val="tx1"/>
                </a:solidFill>
              </a:rPr>
              <a:t>Fresh session</a:t>
            </a:r>
            <a:pPr indent="0" marL="0">
              <a:spcAft>
                <a:spcPts val="1000"/>
              </a:spcAft>
              <a:buNone/>
            </a:pPr>
            <a:r>
              <a:rPr lang="en-US" sz="1500" dirty="0">
                <a:solidFill>
                  <a:schemeClr val="tx2"/>
                </a:solidFill>
              </a:rPr>
              <a:t> per phase</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Guardrails: verify, then trust</a:t>
            </a:r>
            <a:endParaRPr lang="en-US" sz="3200" dirty="0"/>
          </a:p>
        </p:txBody>
      </p:sp>
      <p:sp>
        <p:nvSpPr>
          <p:cNvPr id="3" name="card"/>
          <p:cNvSpPr/>
          <p:nvPr/>
        </p:nvSpPr>
        <p:spPr>
          <a:xfrm>
            <a:off x="457200" y="1234440"/>
            <a:ext cx="4023360" cy="1417320"/>
          </a:xfrm>
          <a:prstGeom prst="roundRect">
            <a:avLst>
              <a:gd name="adj" fmla="val 7742"/>
            </a:avLst>
          </a:prstGeom>
          <a:solidFill>
            <a:schemeClr val="bg2"/>
          </a:solidFill>
          <a:ln w="12700">
            <a:solidFill>
              <a:schemeClr val="bg2"/>
            </a:solidFill>
            <a:prstDash val="solid"/>
          </a:ln>
        </p:spPr>
      </p:sp>
      <p:sp>
        <p:nvSpPr>
          <p:cNvPr id="4" name="icon-bg-FaVial"/>
          <p:cNvSpPr/>
          <p:nvPr/>
        </p:nvSpPr>
        <p:spPr>
          <a:xfrm>
            <a:off x="731520" y="1600200"/>
            <a:ext cx="685800" cy="685800"/>
          </a:xfrm>
          <a:prstGeom prst="ellipse">
            <a:avLst/>
          </a:prstGeom>
          <a:solidFill>
            <a:schemeClr val="accent1"/>
          </a:solidFill>
          <a:ln w="12700">
            <a:solidFill>
              <a:schemeClr val="accent1"/>
            </a:solidFill>
            <a:prstDash val="solid"/>
          </a:ln>
        </p:spPr>
      </p:sp>
      <p:pic>
        <p:nvPicPr>
          <p:cNvPr id="5" name="icon-FaVial" descr="preencoded.png">    </p:cNvPr>
          <p:cNvPicPr>
            <a:picLocks noChangeAspect="1"/>
          </p:cNvPicPr>
          <p:nvPr/>
        </p:nvPicPr>
        <p:blipFill>
          <a:blip r:embed="rId1"/>
          <a:stretch>
            <a:fillRect/>
          </a:stretch>
        </p:blipFill>
        <p:spPr>
          <a:xfrm>
            <a:off x="902970" y="1771650"/>
            <a:ext cx="342900" cy="342900"/>
          </a:xfrm>
          <a:prstGeom prst="rect">
            <a:avLst/>
          </a:prstGeom>
        </p:spPr>
      </p:pic>
      <p:sp>
        <p:nvSpPr>
          <p:cNvPr id="6" name="Text 3"/>
          <p:cNvSpPr txBox="1"/>
          <p:nvPr/>
        </p:nvSpPr>
        <p:spPr>
          <a:xfrm>
            <a:off x="1645920" y="1554480"/>
            <a:ext cx="2651760" cy="365760"/>
          </a:xfrm>
          <a:prstGeom prst="rect">
            <a:avLst/>
          </a:prstGeom>
          <a:noFill/>
          <a:ln/>
        </p:spPr>
        <p:txBody>
          <a:bodyPr wrap="square" lIns="0" tIns="0" rIns="0" bIns="0" rtlCol="0" anchor="ctr"/>
          <a:lstStyle/>
          <a:p>
            <a:pPr indent="0" marL="0">
              <a:buNone/>
            </a:pPr>
            <a:r>
              <a:rPr lang="en-US" sz="1800" b="1" dirty="0">
                <a:solidFill>
                  <a:schemeClr val="tx1"/>
                </a:solidFill>
              </a:rPr>
              <a:t>Tests are the oracle</a:t>
            </a:r>
            <a:endParaRPr lang="en-US" sz="1800" dirty="0"/>
          </a:p>
        </p:txBody>
      </p:sp>
      <p:sp>
        <p:nvSpPr>
          <p:cNvPr id="7" name="Text 4"/>
          <p:cNvSpPr txBox="1"/>
          <p:nvPr/>
        </p:nvSpPr>
        <p:spPr>
          <a:xfrm>
            <a:off x="1645920" y="1947672"/>
            <a:ext cx="2651760" cy="457200"/>
          </a:xfrm>
          <a:prstGeom prst="rect">
            <a:avLst/>
          </a:prstGeom>
          <a:noFill/>
          <a:ln/>
        </p:spPr>
        <p:txBody>
          <a:bodyPr wrap="square" lIns="0" tIns="0" rIns="0" bIns="0" rtlCol="0" anchor="t"/>
          <a:lstStyle/>
          <a:p>
            <a:pPr indent="0" marL="0">
              <a:buNone/>
            </a:pPr>
            <a:r>
              <a:rPr lang="en-US" sz="1400" dirty="0">
                <a:solidFill>
                  <a:schemeClr val="tx2"/>
                </a:solidFill>
              </a:rPr>
              <a:t>Written from the spec, before the code</a:t>
            </a:r>
            <a:endParaRPr lang="en-US" sz="1400" dirty="0"/>
          </a:p>
        </p:txBody>
      </p:sp>
      <p:sp>
        <p:nvSpPr>
          <p:cNvPr id="8" name="card"/>
          <p:cNvSpPr/>
          <p:nvPr/>
        </p:nvSpPr>
        <p:spPr>
          <a:xfrm>
            <a:off x="4663440" y="1234440"/>
            <a:ext cx="4023360" cy="1417320"/>
          </a:xfrm>
          <a:prstGeom prst="roundRect">
            <a:avLst>
              <a:gd name="adj" fmla="val 7742"/>
            </a:avLst>
          </a:prstGeom>
          <a:solidFill>
            <a:schemeClr val="bg2"/>
          </a:solidFill>
          <a:ln w="12700">
            <a:solidFill>
              <a:schemeClr val="bg2"/>
            </a:solidFill>
            <a:prstDash val="solid"/>
          </a:ln>
        </p:spPr>
      </p:sp>
      <p:sp>
        <p:nvSpPr>
          <p:cNvPr id="9" name="icon-bg-FaCompressArrowsAlt"/>
          <p:cNvSpPr/>
          <p:nvPr/>
        </p:nvSpPr>
        <p:spPr>
          <a:xfrm>
            <a:off x="4937760" y="1600200"/>
            <a:ext cx="685800" cy="685800"/>
          </a:xfrm>
          <a:prstGeom prst="ellipse">
            <a:avLst/>
          </a:prstGeom>
          <a:solidFill>
            <a:schemeClr val="accent3"/>
          </a:solidFill>
          <a:ln w="12700">
            <a:solidFill>
              <a:schemeClr val="accent3"/>
            </a:solidFill>
            <a:prstDash val="solid"/>
          </a:ln>
        </p:spPr>
      </p:sp>
      <p:pic>
        <p:nvPicPr>
          <p:cNvPr id="10" name="icon-FaCompressArrowsAlt" descr="preencoded.png">    </p:cNvPr>
          <p:cNvPicPr>
            <a:picLocks noChangeAspect="1"/>
          </p:cNvPicPr>
          <p:nvPr/>
        </p:nvPicPr>
        <p:blipFill>
          <a:blip r:embed="rId2"/>
          <a:stretch>
            <a:fillRect/>
          </a:stretch>
        </p:blipFill>
        <p:spPr>
          <a:xfrm>
            <a:off x="5109210" y="1771650"/>
            <a:ext cx="342900" cy="342900"/>
          </a:xfrm>
          <a:prstGeom prst="rect">
            <a:avLst/>
          </a:prstGeom>
        </p:spPr>
      </p:pic>
      <p:sp>
        <p:nvSpPr>
          <p:cNvPr id="11" name="Text 7"/>
          <p:cNvSpPr txBox="1"/>
          <p:nvPr/>
        </p:nvSpPr>
        <p:spPr>
          <a:xfrm>
            <a:off x="5852160" y="1554480"/>
            <a:ext cx="2651760" cy="365760"/>
          </a:xfrm>
          <a:prstGeom prst="rect">
            <a:avLst/>
          </a:prstGeom>
          <a:noFill/>
          <a:ln/>
        </p:spPr>
        <p:txBody>
          <a:bodyPr wrap="square" lIns="0" tIns="0" rIns="0" bIns="0" rtlCol="0" anchor="ctr"/>
          <a:lstStyle/>
          <a:p>
            <a:pPr indent="0" marL="0">
              <a:buNone/>
            </a:pPr>
            <a:r>
              <a:rPr lang="en-US" sz="1800" b="1" dirty="0">
                <a:solidFill>
                  <a:schemeClr val="tx1"/>
                </a:solidFill>
              </a:rPr>
              <a:t>Small, reviewable diffs</a:t>
            </a:r>
            <a:endParaRPr lang="en-US" sz="1800" dirty="0"/>
          </a:p>
        </p:txBody>
      </p:sp>
      <p:sp>
        <p:nvSpPr>
          <p:cNvPr id="12" name="Text 8"/>
          <p:cNvSpPr txBox="1"/>
          <p:nvPr/>
        </p:nvSpPr>
        <p:spPr>
          <a:xfrm>
            <a:off x="5852160" y="1947672"/>
            <a:ext cx="2651760" cy="457200"/>
          </a:xfrm>
          <a:prstGeom prst="rect">
            <a:avLst/>
          </a:prstGeom>
          <a:noFill/>
          <a:ln/>
        </p:spPr>
        <p:txBody>
          <a:bodyPr wrap="square" lIns="0" tIns="0" rIns="0" bIns="0" rtlCol="0" anchor="t"/>
          <a:lstStyle/>
          <a:p>
            <a:pPr indent="0" marL="0">
              <a:buNone/>
            </a:pPr>
            <a:r>
              <a:rPr lang="en-US" sz="1400" dirty="0">
                <a:solidFill>
                  <a:schemeClr val="tx2"/>
                </a:solidFill>
              </a:rPr>
              <a:t>One task, one commit, one review</a:t>
            </a:r>
            <a:endParaRPr lang="en-US" sz="1400" dirty="0"/>
          </a:p>
        </p:txBody>
      </p:sp>
      <p:sp>
        <p:nvSpPr>
          <p:cNvPr id="13" name="card"/>
          <p:cNvSpPr/>
          <p:nvPr/>
        </p:nvSpPr>
        <p:spPr>
          <a:xfrm>
            <a:off x="457200" y="2834640"/>
            <a:ext cx="4023360" cy="1417320"/>
          </a:xfrm>
          <a:prstGeom prst="roundRect">
            <a:avLst>
              <a:gd name="adj" fmla="val 7742"/>
            </a:avLst>
          </a:prstGeom>
          <a:solidFill>
            <a:schemeClr val="bg2"/>
          </a:solidFill>
          <a:ln w="12700">
            <a:solidFill>
              <a:schemeClr val="bg2"/>
            </a:solidFill>
            <a:prstDash val="solid"/>
          </a:ln>
        </p:spPr>
      </p:sp>
      <p:sp>
        <p:nvSpPr>
          <p:cNvPr id="14" name="icon-bg-FaUserCheck"/>
          <p:cNvSpPr/>
          <p:nvPr/>
        </p:nvSpPr>
        <p:spPr>
          <a:xfrm>
            <a:off x="731520" y="3200400"/>
            <a:ext cx="685800" cy="685800"/>
          </a:xfrm>
          <a:prstGeom prst="ellipse">
            <a:avLst/>
          </a:prstGeom>
          <a:solidFill>
            <a:schemeClr val="accent4"/>
          </a:solidFill>
          <a:ln w="12700">
            <a:solidFill>
              <a:schemeClr val="accent4"/>
            </a:solidFill>
            <a:prstDash val="solid"/>
          </a:ln>
        </p:spPr>
      </p:sp>
      <p:pic>
        <p:nvPicPr>
          <p:cNvPr id="15" name="icon-FaUserCheck" descr="preencoded.png">    </p:cNvPr>
          <p:cNvPicPr>
            <a:picLocks noChangeAspect="1"/>
          </p:cNvPicPr>
          <p:nvPr/>
        </p:nvPicPr>
        <p:blipFill>
          <a:blip r:embed="rId3"/>
          <a:stretch>
            <a:fillRect/>
          </a:stretch>
        </p:blipFill>
        <p:spPr>
          <a:xfrm>
            <a:off x="902970" y="3371850"/>
            <a:ext cx="342900" cy="342900"/>
          </a:xfrm>
          <a:prstGeom prst="rect">
            <a:avLst/>
          </a:prstGeom>
        </p:spPr>
      </p:pic>
      <p:sp>
        <p:nvSpPr>
          <p:cNvPr id="16" name="Text 11"/>
          <p:cNvSpPr txBox="1"/>
          <p:nvPr/>
        </p:nvSpPr>
        <p:spPr>
          <a:xfrm>
            <a:off x="1645920" y="3154680"/>
            <a:ext cx="2651760" cy="365760"/>
          </a:xfrm>
          <a:prstGeom prst="rect">
            <a:avLst/>
          </a:prstGeom>
          <a:noFill/>
          <a:ln/>
        </p:spPr>
        <p:txBody>
          <a:bodyPr wrap="square" lIns="0" tIns="0" rIns="0" bIns="0" rtlCol="0" anchor="ctr"/>
          <a:lstStyle/>
          <a:p>
            <a:pPr indent="0" marL="0">
              <a:buNone/>
            </a:pPr>
            <a:r>
              <a:rPr lang="en-US" sz="1800" b="1" dirty="0">
                <a:solidFill>
                  <a:schemeClr val="tx1"/>
                </a:solidFill>
              </a:rPr>
              <a:t>Human gates</a:t>
            </a:r>
            <a:endParaRPr lang="en-US" sz="1800" dirty="0"/>
          </a:p>
        </p:txBody>
      </p:sp>
      <p:sp>
        <p:nvSpPr>
          <p:cNvPr id="17" name="Text 12"/>
          <p:cNvSpPr txBox="1"/>
          <p:nvPr/>
        </p:nvSpPr>
        <p:spPr>
          <a:xfrm>
            <a:off x="1645920" y="3547872"/>
            <a:ext cx="2651760" cy="457200"/>
          </a:xfrm>
          <a:prstGeom prst="rect">
            <a:avLst/>
          </a:prstGeom>
          <a:noFill/>
          <a:ln/>
        </p:spPr>
        <p:txBody>
          <a:bodyPr wrap="square" lIns="0" tIns="0" rIns="0" bIns="0" rtlCol="0" anchor="t"/>
          <a:lstStyle/>
          <a:p>
            <a:pPr indent="0" marL="0">
              <a:buNone/>
            </a:pPr>
            <a:r>
              <a:rPr lang="en-US" sz="1400" dirty="0">
                <a:solidFill>
                  <a:schemeClr val="tx2"/>
                </a:solidFill>
              </a:rPr>
              <a:t>Approve spec, plan and tasks</a:t>
            </a:r>
            <a:endParaRPr lang="en-US" sz="1400" dirty="0"/>
          </a:p>
        </p:txBody>
      </p:sp>
      <p:sp>
        <p:nvSpPr>
          <p:cNvPr id="18" name="card"/>
          <p:cNvSpPr/>
          <p:nvPr/>
        </p:nvSpPr>
        <p:spPr>
          <a:xfrm>
            <a:off x="4663440" y="2834640"/>
            <a:ext cx="4023360" cy="1417320"/>
          </a:xfrm>
          <a:prstGeom prst="roundRect">
            <a:avLst>
              <a:gd name="adj" fmla="val 7742"/>
            </a:avLst>
          </a:prstGeom>
          <a:solidFill>
            <a:schemeClr val="bg2"/>
          </a:solidFill>
          <a:ln w="12700">
            <a:solidFill>
              <a:schemeClr val="bg2"/>
            </a:solidFill>
            <a:prstDash val="solid"/>
          </a:ln>
        </p:spPr>
      </p:sp>
      <p:sp>
        <p:nvSpPr>
          <p:cNvPr id="19" name="icon-bg-FaShieldAlt"/>
          <p:cNvSpPr/>
          <p:nvPr/>
        </p:nvSpPr>
        <p:spPr>
          <a:xfrm>
            <a:off x="4937760" y="3200400"/>
            <a:ext cx="685800" cy="685800"/>
          </a:xfrm>
          <a:prstGeom prst="ellipse">
            <a:avLst/>
          </a:prstGeom>
          <a:solidFill>
            <a:schemeClr val="accent2"/>
          </a:solidFill>
          <a:ln w="12700">
            <a:solidFill>
              <a:schemeClr val="accent2"/>
            </a:solidFill>
            <a:prstDash val="solid"/>
          </a:ln>
        </p:spPr>
      </p:sp>
      <p:pic>
        <p:nvPicPr>
          <p:cNvPr id="20" name="icon-FaShieldAlt" descr="preencoded.png">    </p:cNvPr>
          <p:cNvPicPr>
            <a:picLocks noChangeAspect="1"/>
          </p:cNvPicPr>
          <p:nvPr/>
        </p:nvPicPr>
        <p:blipFill>
          <a:blip r:embed="rId4"/>
          <a:stretch>
            <a:fillRect/>
          </a:stretch>
        </p:blipFill>
        <p:spPr>
          <a:xfrm>
            <a:off x="5109210" y="3371850"/>
            <a:ext cx="342900" cy="342900"/>
          </a:xfrm>
          <a:prstGeom prst="rect">
            <a:avLst/>
          </a:prstGeom>
        </p:spPr>
      </p:pic>
      <p:sp>
        <p:nvSpPr>
          <p:cNvPr id="21" name="Text 15"/>
          <p:cNvSpPr txBox="1"/>
          <p:nvPr/>
        </p:nvSpPr>
        <p:spPr>
          <a:xfrm>
            <a:off x="5852160" y="3154680"/>
            <a:ext cx="2651760" cy="365760"/>
          </a:xfrm>
          <a:prstGeom prst="rect">
            <a:avLst/>
          </a:prstGeom>
          <a:noFill/>
          <a:ln/>
        </p:spPr>
        <p:txBody>
          <a:bodyPr wrap="square" lIns="0" tIns="0" rIns="0" bIns="0" rtlCol="0" anchor="ctr"/>
          <a:lstStyle/>
          <a:p>
            <a:pPr indent="0" marL="0">
              <a:buNone/>
            </a:pPr>
            <a:r>
              <a:rPr lang="en-US" sz="1800" b="1" dirty="0">
                <a:solidFill>
                  <a:schemeClr val="tx1"/>
                </a:solidFill>
              </a:rPr>
              <a:t>Sandbox + CI</a:t>
            </a:r>
            <a:endParaRPr lang="en-US" sz="1800" dirty="0"/>
          </a:p>
        </p:txBody>
      </p:sp>
      <p:sp>
        <p:nvSpPr>
          <p:cNvPr id="22" name="Text 16"/>
          <p:cNvSpPr txBox="1"/>
          <p:nvPr/>
        </p:nvSpPr>
        <p:spPr>
          <a:xfrm>
            <a:off x="5852160" y="3547872"/>
            <a:ext cx="2651760" cy="457200"/>
          </a:xfrm>
          <a:prstGeom prst="rect">
            <a:avLst/>
          </a:prstGeom>
          <a:noFill/>
          <a:ln/>
        </p:spPr>
        <p:txBody>
          <a:bodyPr wrap="square" lIns="0" tIns="0" rIns="0" bIns="0" rtlCol="0" anchor="t"/>
          <a:lstStyle/>
          <a:p>
            <a:pPr indent="0" marL="0">
              <a:buNone/>
            </a:pPr>
            <a:r>
              <a:rPr lang="en-US" sz="1400" dirty="0">
                <a:solidFill>
                  <a:schemeClr val="tx2"/>
                </a:solidFill>
              </a:rPr>
              <a:t>Least privilege, nothing merges red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400" b="1" dirty="0">
                <a:solidFill>
                  <a:schemeClr val="bg1"/>
                </a:solidFill>
              </a:rPr>
              <a:t>Skills that matter more, not less</a:t>
            </a:r>
            <a:endParaRPr lang="en-US" sz="3400" dirty="0"/>
          </a:p>
        </p:txBody>
      </p:sp>
      <p:sp>
        <p:nvSpPr>
          <p:cNvPr id="3" name="icon-bg-FaPenNib"/>
          <p:cNvSpPr/>
          <p:nvPr/>
        </p:nvSpPr>
        <p:spPr>
          <a:xfrm>
            <a:off x="548640" y="1234440"/>
            <a:ext cx="594360" cy="594360"/>
          </a:xfrm>
          <a:prstGeom prst="ellipse">
            <a:avLst/>
          </a:prstGeom>
          <a:solidFill>
            <a:schemeClr val="accent1"/>
          </a:solidFill>
          <a:ln w="12700">
            <a:solidFill>
              <a:schemeClr val="accent1"/>
            </a:solidFill>
            <a:prstDash val="solid"/>
          </a:ln>
        </p:spPr>
      </p:sp>
      <p:pic>
        <p:nvPicPr>
          <p:cNvPr id="4" name="icon-FaPenNib" descr="preencoded.png">    </p:cNvPr>
          <p:cNvPicPr>
            <a:picLocks noChangeAspect="1"/>
          </p:cNvPicPr>
          <p:nvPr/>
        </p:nvPicPr>
        <p:blipFill>
          <a:blip r:embed="rId1"/>
          <a:stretch>
            <a:fillRect/>
          </a:stretch>
        </p:blipFill>
        <p:spPr>
          <a:xfrm>
            <a:off x="697230" y="1383030"/>
            <a:ext cx="297180" cy="297180"/>
          </a:xfrm>
          <a:prstGeom prst="rect">
            <a:avLst/>
          </a:prstGeom>
        </p:spPr>
      </p:pic>
      <p:sp>
        <p:nvSpPr>
          <p:cNvPr id="5" name="Text 2"/>
          <p:cNvSpPr txBox="1"/>
          <p:nvPr/>
        </p:nvSpPr>
        <p:spPr>
          <a:xfrm>
            <a:off x="1325880" y="1216152"/>
            <a:ext cx="3657600" cy="329184"/>
          </a:xfrm>
          <a:prstGeom prst="rect">
            <a:avLst/>
          </a:prstGeom>
          <a:noFill/>
          <a:ln/>
        </p:spPr>
        <p:txBody>
          <a:bodyPr wrap="square" lIns="0" tIns="0" rIns="0" bIns="0" rtlCol="0" anchor="ctr"/>
          <a:lstStyle/>
          <a:p>
            <a:pPr indent="0" marL="0">
              <a:buNone/>
            </a:pPr>
            <a:r>
              <a:rPr lang="en-US" sz="1800" b="1" dirty="0">
                <a:solidFill>
                  <a:schemeClr val="bg1"/>
                </a:solidFill>
              </a:rPr>
              <a:t>Precise writing</a:t>
            </a:r>
            <a:endParaRPr lang="en-US" sz="1800" dirty="0"/>
          </a:p>
        </p:txBody>
      </p:sp>
      <p:sp>
        <p:nvSpPr>
          <p:cNvPr id="6" name="Text 3"/>
          <p:cNvSpPr txBox="1"/>
          <p:nvPr/>
        </p:nvSpPr>
        <p:spPr>
          <a:xfrm>
            <a:off x="1325880" y="1536192"/>
            <a:ext cx="3657600" cy="274320"/>
          </a:xfrm>
          <a:prstGeom prst="rect">
            <a:avLst/>
          </a:prstGeom>
          <a:noFill/>
          <a:ln/>
        </p:spPr>
        <p:txBody>
          <a:bodyPr wrap="square" lIns="0" tIns="0" rIns="0" bIns="0" rtlCol="0" anchor="ctr"/>
          <a:lstStyle/>
          <a:p>
            <a:pPr indent="0" marL="0">
              <a:buNone/>
            </a:pPr>
            <a:r>
              <a:rPr lang="en-US" sz="1400" dirty="0">
                <a:solidFill>
                  <a:schemeClr val="bg2"/>
                </a:solidFill>
              </a:rPr>
              <a:t>requirements an agent can't misread</a:t>
            </a:r>
            <a:endParaRPr lang="en-US" sz="1400" dirty="0"/>
          </a:p>
        </p:txBody>
      </p:sp>
      <p:sp>
        <p:nvSpPr>
          <p:cNvPr id="7" name="icon-bg-FaProjectDiagram"/>
          <p:cNvSpPr/>
          <p:nvPr/>
        </p:nvSpPr>
        <p:spPr>
          <a:xfrm>
            <a:off x="548640" y="2011680"/>
            <a:ext cx="594360" cy="594360"/>
          </a:xfrm>
          <a:prstGeom prst="ellipse">
            <a:avLst/>
          </a:prstGeom>
          <a:solidFill>
            <a:schemeClr val="accent1"/>
          </a:solidFill>
          <a:ln w="12700">
            <a:solidFill>
              <a:schemeClr val="accent1"/>
            </a:solidFill>
            <a:prstDash val="solid"/>
          </a:ln>
        </p:spPr>
      </p:sp>
      <p:pic>
        <p:nvPicPr>
          <p:cNvPr id="8" name="icon-FaProjectDiagram" descr="preencoded.png">    </p:cNvPr>
          <p:cNvPicPr>
            <a:picLocks noChangeAspect="1"/>
          </p:cNvPicPr>
          <p:nvPr/>
        </p:nvPicPr>
        <p:blipFill>
          <a:blip r:embed="rId2"/>
          <a:stretch>
            <a:fillRect/>
          </a:stretch>
        </p:blipFill>
        <p:spPr>
          <a:xfrm>
            <a:off x="697230" y="2160270"/>
            <a:ext cx="297180" cy="297180"/>
          </a:xfrm>
          <a:prstGeom prst="rect">
            <a:avLst/>
          </a:prstGeom>
        </p:spPr>
      </p:pic>
      <p:sp>
        <p:nvSpPr>
          <p:cNvPr id="9" name="Text 5"/>
          <p:cNvSpPr txBox="1"/>
          <p:nvPr/>
        </p:nvSpPr>
        <p:spPr>
          <a:xfrm>
            <a:off x="1325880" y="1993392"/>
            <a:ext cx="3657600" cy="329184"/>
          </a:xfrm>
          <a:prstGeom prst="rect">
            <a:avLst/>
          </a:prstGeom>
          <a:noFill/>
          <a:ln/>
        </p:spPr>
        <p:txBody>
          <a:bodyPr wrap="square" lIns="0" tIns="0" rIns="0" bIns="0" rtlCol="0" anchor="ctr"/>
          <a:lstStyle/>
          <a:p>
            <a:pPr indent="0" marL="0">
              <a:buNone/>
            </a:pPr>
            <a:r>
              <a:rPr lang="en-US" sz="1800" b="1" dirty="0">
                <a:solidFill>
                  <a:schemeClr val="bg1"/>
                </a:solidFill>
              </a:rPr>
              <a:t>Decomposition</a:t>
            </a:r>
            <a:endParaRPr lang="en-US" sz="1800" dirty="0"/>
          </a:p>
        </p:txBody>
      </p:sp>
      <p:sp>
        <p:nvSpPr>
          <p:cNvPr id="10" name="Text 6"/>
          <p:cNvSpPr txBox="1"/>
          <p:nvPr/>
        </p:nvSpPr>
        <p:spPr>
          <a:xfrm>
            <a:off x="1325880" y="2313432"/>
            <a:ext cx="3657600" cy="274320"/>
          </a:xfrm>
          <a:prstGeom prst="rect">
            <a:avLst/>
          </a:prstGeom>
          <a:noFill/>
          <a:ln/>
        </p:spPr>
        <p:txBody>
          <a:bodyPr wrap="square" lIns="0" tIns="0" rIns="0" bIns="0" rtlCol="0" anchor="ctr"/>
          <a:lstStyle/>
          <a:p>
            <a:pPr indent="0" marL="0">
              <a:buNone/>
            </a:pPr>
            <a:r>
              <a:rPr lang="en-US" sz="1400" dirty="0">
                <a:solidFill>
                  <a:schemeClr val="bg2"/>
                </a:solidFill>
              </a:rPr>
              <a:t>big problems into testable slices</a:t>
            </a:r>
            <a:endParaRPr lang="en-US" sz="1400" dirty="0"/>
          </a:p>
        </p:txBody>
      </p:sp>
      <p:sp>
        <p:nvSpPr>
          <p:cNvPr id="11" name="icon-bg-FaClipboardCheck"/>
          <p:cNvSpPr/>
          <p:nvPr/>
        </p:nvSpPr>
        <p:spPr>
          <a:xfrm>
            <a:off x="548640" y="2788920"/>
            <a:ext cx="594360" cy="594360"/>
          </a:xfrm>
          <a:prstGeom prst="ellipse">
            <a:avLst/>
          </a:prstGeom>
          <a:solidFill>
            <a:schemeClr val="accent1"/>
          </a:solidFill>
          <a:ln w="12700">
            <a:solidFill>
              <a:schemeClr val="accent1"/>
            </a:solidFill>
            <a:prstDash val="solid"/>
          </a:ln>
        </p:spPr>
      </p:sp>
      <p:pic>
        <p:nvPicPr>
          <p:cNvPr id="12" name="icon-FaClipboardCheck" descr="preencoded.png">    </p:cNvPr>
          <p:cNvPicPr>
            <a:picLocks noChangeAspect="1"/>
          </p:cNvPicPr>
          <p:nvPr/>
        </p:nvPicPr>
        <p:blipFill>
          <a:blip r:embed="rId3"/>
          <a:stretch>
            <a:fillRect/>
          </a:stretch>
        </p:blipFill>
        <p:spPr>
          <a:xfrm>
            <a:off x="697230" y="2937510"/>
            <a:ext cx="297180" cy="297180"/>
          </a:xfrm>
          <a:prstGeom prst="rect">
            <a:avLst/>
          </a:prstGeom>
        </p:spPr>
      </p:pic>
      <p:sp>
        <p:nvSpPr>
          <p:cNvPr id="13" name="Text 8"/>
          <p:cNvSpPr txBox="1"/>
          <p:nvPr/>
        </p:nvSpPr>
        <p:spPr>
          <a:xfrm>
            <a:off x="1325880" y="2770632"/>
            <a:ext cx="3657600" cy="329184"/>
          </a:xfrm>
          <a:prstGeom prst="rect">
            <a:avLst/>
          </a:prstGeom>
          <a:noFill/>
          <a:ln/>
        </p:spPr>
        <p:txBody>
          <a:bodyPr wrap="square" lIns="0" tIns="0" rIns="0" bIns="0" rtlCol="0" anchor="ctr"/>
          <a:lstStyle/>
          <a:p>
            <a:pPr indent="0" marL="0">
              <a:buNone/>
            </a:pPr>
            <a:r>
              <a:rPr lang="en-US" sz="1800" b="1" dirty="0">
                <a:solidFill>
                  <a:schemeClr val="bg1"/>
                </a:solidFill>
              </a:rPr>
              <a:t>Designing verification</a:t>
            </a:r>
            <a:endParaRPr lang="en-US" sz="1800" dirty="0"/>
          </a:p>
        </p:txBody>
      </p:sp>
      <p:sp>
        <p:nvSpPr>
          <p:cNvPr id="14" name="Text 9"/>
          <p:cNvSpPr txBox="1"/>
          <p:nvPr/>
        </p:nvSpPr>
        <p:spPr>
          <a:xfrm>
            <a:off x="1325880" y="3090672"/>
            <a:ext cx="3657600" cy="274320"/>
          </a:xfrm>
          <a:prstGeom prst="rect">
            <a:avLst/>
          </a:prstGeom>
          <a:noFill/>
          <a:ln/>
        </p:spPr>
        <p:txBody>
          <a:bodyPr wrap="square" lIns="0" tIns="0" rIns="0" bIns="0" rtlCol="0" anchor="ctr"/>
          <a:lstStyle/>
          <a:p>
            <a:pPr indent="0" marL="0">
              <a:buNone/>
            </a:pPr>
            <a:r>
              <a:rPr lang="en-US" sz="1400" dirty="0">
                <a:solidFill>
                  <a:schemeClr val="bg2"/>
                </a:solidFill>
              </a:rPr>
              <a:t>knowing what "done" means</a:t>
            </a:r>
            <a:endParaRPr lang="en-US" sz="1400" dirty="0"/>
          </a:p>
        </p:txBody>
      </p:sp>
      <p:sp>
        <p:nvSpPr>
          <p:cNvPr id="15" name="icon-bg-FaEye"/>
          <p:cNvSpPr/>
          <p:nvPr/>
        </p:nvSpPr>
        <p:spPr>
          <a:xfrm>
            <a:off x="548640" y="3566160"/>
            <a:ext cx="594360" cy="594360"/>
          </a:xfrm>
          <a:prstGeom prst="ellipse">
            <a:avLst/>
          </a:prstGeom>
          <a:solidFill>
            <a:schemeClr val="accent1"/>
          </a:solidFill>
          <a:ln w="12700">
            <a:solidFill>
              <a:schemeClr val="accent1"/>
            </a:solidFill>
            <a:prstDash val="solid"/>
          </a:ln>
        </p:spPr>
      </p:sp>
      <p:pic>
        <p:nvPicPr>
          <p:cNvPr id="16" name="icon-FaEye" descr="preencoded.png">    </p:cNvPr>
          <p:cNvPicPr>
            <a:picLocks noChangeAspect="1"/>
          </p:cNvPicPr>
          <p:nvPr/>
        </p:nvPicPr>
        <p:blipFill>
          <a:blip r:embed="rId4"/>
          <a:stretch>
            <a:fillRect/>
          </a:stretch>
        </p:blipFill>
        <p:spPr>
          <a:xfrm>
            <a:off x="697230" y="3714750"/>
            <a:ext cx="297180" cy="297180"/>
          </a:xfrm>
          <a:prstGeom prst="rect">
            <a:avLst/>
          </a:prstGeom>
        </p:spPr>
      </p:pic>
      <p:sp>
        <p:nvSpPr>
          <p:cNvPr id="17" name="Text 11"/>
          <p:cNvSpPr txBox="1"/>
          <p:nvPr/>
        </p:nvSpPr>
        <p:spPr>
          <a:xfrm>
            <a:off x="1325880" y="3547872"/>
            <a:ext cx="3657600" cy="329184"/>
          </a:xfrm>
          <a:prstGeom prst="rect">
            <a:avLst/>
          </a:prstGeom>
          <a:noFill/>
          <a:ln/>
        </p:spPr>
        <p:txBody>
          <a:bodyPr wrap="square" lIns="0" tIns="0" rIns="0" bIns="0" rtlCol="0" anchor="ctr"/>
          <a:lstStyle/>
          <a:p>
            <a:pPr indent="0" marL="0">
              <a:buNone/>
            </a:pPr>
            <a:r>
              <a:rPr lang="en-US" sz="1800" b="1" dirty="0">
                <a:solidFill>
                  <a:schemeClr val="bg1"/>
                </a:solidFill>
              </a:rPr>
              <a:t>Review &amp; taste</a:t>
            </a:r>
            <a:endParaRPr lang="en-US" sz="1800" dirty="0"/>
          </a:p>
        </p:txBody>
      </p:sp>
      <p:sp>
        <p:nvSpPr>
          <p:cNvPr id="18" name="Text 12"/>
          <p:cNvSpPr txBox="1"/>
          <p:nvPr/>
        </p:nvSpPr>
        <p:spPr>
          <a:xfrm>
            <a:off x="1325880" y="3867912"/>
            <a:ext cx="3657600" cy="274320"/>
          </a:xfrm>
          <a:prstGeom prst="rect">
            <a:avLst/>
          </a:prstGeom>
          <a:noFill/>
          <a:ln/>
        </p:spPr>
        <p:txBody>
          <a:bodyPr wrap="square" lIns="0" tIns="0" rIns="0" bIns="0" rtlCol="0" anchor="ctr"/>
          <a:lstStyle/>
          <a:p>
            <a:pPr indent="0" marL="0">
              <a:buNone/>
            </a:pPr>
            <a:r>
              <a:rPr lang="en-US" sz="1400" dirty="0">
                <a:solidFill>
                  <a:schemeClr val="bg2"/>
                </a:solidFill>
              </a:rPr>
              <a:t>architecture, security, trade-offs</a:t>
            </a:r>
            <a:endParaRPr lang="en-US" sz="1400" dirty="0"/>
          </a:p>
        </p:txBody>
      </p:sp>
      <p:sp>
        <p:nvSpPr>
          <p:cNvPr id="19" name="card"/>
          <p:cNvSpPr/>
          <p:nvPr/>
        </p:nvSpPr>
        <p:spPr>
          <a:xfrm>
            <a:off x="5394960" y="1325880"/>
            <a:ext cx="3291840" cy="2834640"/>
          </a:xfrm>
          <a:prstGeom prst="roundRect">
            <a:avLst>
              <a:gd name="adj" fmla="val 3871"/>
            </a:avLst>
          </a:prstGeom>
          <a:solidFill>
            <a:schemeClr val="tx2"/>
          </a:solidFill>
          <a:ln w="12700">
            <a:solidFill>
              <a:schemeClr val="tx2"/>
            </a:solidFill>
            <a:prstDash val="solid"/>
          </a:ln>
        </p:spPr>
      </p:sp>
      <p:sp>
        <p:nvSpPr>
          <p:cNvPr id="20" name="Text 14"/>
          <p:cNvSpPr txBox="1"/>
          <p:nvPr/>
        </p:nvSpPr>
        <p:spPr>
          <a:xfrm>
            <a:off x="5623560" y="1325880"/>
            <a:ext cx="731520" cy="822960"/>
          </a:xfrm>
          <a:prstGeom prst="rect">
            <a:avLst/>
          </a:prstGeom>
          <a:noFill/>
          <a:ln/>
        </p:spPr>
        <p:txBody>
          <a:bodyPr wrap="square" lIns="0" tIns="0" rIns="0" bIns="0" rtlCol="0" anchor="ctr"/>
          <a:lstStyle/>
          <a:p>
            <a:pPr indent="0" marL="0">
              <a:buNone/>
            </a:pPr>
            <a:r>
              <a:rPr lang="en-US" sz="6000" b="1" dirty="0">
                <a:solidFill>
                  <a:schemeClr val="accent2"/>
                </a:solidFill>
              </a:rPr>
              <a:t>“</a:t>
            </a:r>
            <a:endParaRPr lang="en-US" sz="6000" dirty="0"/>
          </a:p>
        </p:txBody>
      </p:sp>
      <p:sp>
        <p:nvSpPr>
          <p:cNvPr id="21" name="Text 15"/>
          <p:cNvSpPr txBox="1"/>
          <p:nvPr/>
        </p:nvSpPr>
        <p:spPr>
          <a:xfrm>
            <a:off x="5669280" y="2011680"/>
            <a:ext cx="2788920" cy="1920240"/>
          </a:xfrm>
          <a:prstGeom prst="rect">
            <a:avLst/>
          </a:prstGeom>
          <a:noFill/>
          <a:ln/>
        </p:spPr>
        <p:txBody>
          <a:bodyPr wrap="square" lIns="0" tIns="0" rIns="0" bIns="0" rtlCol="0" anchor="t"/>
          <a:lstStyle/>
          <a:p>
            <a:pPr indent="0" marL="0">
              <a:buNone/>
            </a:pPr>
            <a:r>
              <a:rPr lang="en-US" sz="1800" i="1" dirty="0">
                <a:solidFill>
                  <a:schemeClr val="bg1"/>
                </a:solidFill>
              </a:rPr>
              <a:t>The work doesn't disappear — it moves up the stack: from writing code to specifying and verifying it.</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When SDD shines — and when it's overkill</a:t>
            </a:r>
            <a:endParaRPr lang="en-US" sz="3200" dirty="0"/>
          </a:p>
        </p:txBody>
      </p:sp>
      <p:sp>
        <p:nvSpPr>
          <p:cNvPr id="3" name="card"/>
          <p:cNvSpPr/>
          <p:nvPr/>
        </p:nvSpPr>
        <p:spPr>
          <a:xfrm>
            <a:off x="457200" y="1188720"/>
            <a:ext cx="3977640" cy="3291840"/>
          </a:xfrm>
          <a:prstGeom prst="roundRect">
            <a:avLst>
              <a:gd name="adj" fmla="val 3333"/>
            </a:avLst>
          </a:prstGeom>
          <a:solidFill>
            <a:srgbClr val="E3F4EB"/>
          </a:solidFill>
          <a:ln w="12700">
            <a:solidFill>
              <a:srgbClr val="E3F4EB"/>
            </a:solidFill>
            <a:prstDash val="solid"/>
          </a:ln>
        </p:spPr>
      </p:sp>
      <p:sp>
        <p:nvSpPr>
          <p:cNvPr id="4" name="card"/>
          <p:cNvSpPr/>
          <p:nvPr/>
        </p:nvSpPr>
        <p:spPr>
          <a:xfrm>
            <a:off x="4709160" y="1188720"/>
            <a:ext cx="3977640" cy="3291840"/>
          </a:xfrm>
          <a:prstGeom prst="roundRect">
            <a:avLst>
              <a:gd name="adj" fmla="val 3333"/>
            </a:avLst>
          </a:prstGeom>
          <a:solidFill>
            <a:srgbClr val="FFF1EB"/>
          </a:solidFill>
          <a:ln w="12700">
            <a:solidFill>
              <a:srgbClr val="FFF1EB"/>
            </a:solidFill>
            <a:prstDash val="solid"/>
          </a:ln>
        </p:spPr>
      </p:sp>
      <p:sp>
        <p:nvSpPr>
          <p:cNvPr id="5" name="icon-bg-FaCheck"/>
          <p:cNvSpPr/>
          <p:nvPr/>
        </p:nvSpPr>
        <p:spPr>
          <a:xfrm>
            <a:off x="731520" y="1417320"/>
            <a:ext cx="502920" cy="502920"/>
          </a:xfrm>
          <a:prstGeom prst="ellipse">
            <a:avLst/>
          </a:prstGeom>
          <a:solidFill>
            <a:schemeClr val="accent1"/>
          </a:solidFill>
          <a:ln w="12700">
            <a:solidFill>
              <a:schemeClr val="accent1"/>
            </a:solidFill>
            <a:prstDash val="solid"/>
          </a:ln>
        </p:spPr>
      </p:sp>
      <p:pic>
        <p:nvPicPr>
          <p:cNvPr id="6" name="icon-FaCheck" descr="preencoded.png">    </p:cNvPr>
          <p:cNvPicPr>
            <a:picLocks noChangeAspect="1"/>
          </p:cNvPicPr>
          <p:nvPr/>
        </p:nvPicPr>
        <p:blipFill>
          <a:blip r:embed="rId1"/>
          <a:stretch>
            <a:fillRect/>
          </a:stretch>
        </p:blipFill>
        <p:spPr>
          <a:xfrm>
            <a:off x="857250" y="1543050"/>
            <a:ext cx="251460" cy="251460"/>
          </a:xfrm>
          <a:prstGeom prst="rect">
            <a:avLst/>
          </a:prstGeom>
        </p:spPr>
      </p:pic>
      <p:sp>
        <p:nvSpPr>
          <p:cNvPr id="7" name="icon-bg-FaTimes"/>
          <p:cNvSpPr/>
          <p:nvPr/>
        </p:nvSpPr>
        <p:spPr>
          <a:xfrm>
            <a:off x="4983480" y="1417320"/>
            <a:ext cx="502920" cy="502920"/>
          </a:xfrm>
          <a:prstGeom prst="ellipse">
            <a:avLst/>
          </a:prstGeom>
          <a:solidFill>
            <a:schemeClr val="accent2"/>
          </a:solidFill>
          <a:ln w="12700">
            <a:solidFill>
              <a:schemeClr val="accent2"/>
            </a:solidFill>
            <a:prstDash val="solid"/>
          </a:ln>
        </p:spPr>
      </p:sp>
      <p:pic>
        <p:nvPicPr>
          <p:cNvPr id="8" name="icon-FaTimes" descr="preencoded.png">    </p:cNvPr>
          <p:cNvPicPr>
            <a:picLocks noChangeAspect="1"/>
          </p:cNvPicPr>
          <p:nvPr/>
        </p:nvPicPr>
        <p:blipFill>
          <a:blip r:embed="rId2"/>
          <a:stretch>
            <a:fillRect/>
          </a:stretch>
        </p:blipFill>
        <p:spPr>
          <a:xfrm>
            <a:off x="5109210" y="1543050"/>
            <a:ext cx="251460" cy="251460"/>
          </a:xfrm>
          <a:prstGeom prst="rect">
            <a:avLst/>
          </a:prstGeom>
        </p:spPr>
      </p:pic>
      <p:sp>
        <p:nvSpPr>
          <p:cNvPr id="9" name="Text 5"/>
          <p:cNvSpPr txBox="1"/>
          <p:nvPr/>
        </p:nvSpPr>
        <p:spPr>
          <a:xfrm>
            <a:off x="1371600" y="1417320"/>
            <a:ext cx="2743200" cy="502920"/>
          </a:xfrm>
          <a:prstGeom prst="rect">
            <a:avLst/>
          </a:prstGeom>
          <a:noFill/>
          <a:ln/>
        </p:spPr>
        <p:txBody>
          <a:bodyPr wrap="square" lIns="0" tIns="0" rIns="0" bIns="0" rtlCol="0" anchor="ctr"/>
          <a:lstStyle/>
          <a:p>
            <a:pPr indent="0" marL="0">
              <a:buNone/>
            </a:pPr>
            <a:r>
              <a:rPr lang="en-US" sz="2200" b="1" dirty="0">
                <a:solidFill>
                  <a:schemeClr val="tx1"/>
                </a:solidFill>
              </a:rPr>
              <a:t>Shines</a:t>
            </a:r>
            <a:endParaRPr lang="en-US" sz="2200" dirty="0"/>
          </a:p>
        </p:txBody>
      </p:sp>
      <p:sp>
        <p:nvSpPr>
          <p:cNvPr id="10" name="Text 6"/>
          <p:cNvSpPr txBox="1"/>
          <p:nvPr/>
        </p:nvSpPr>
        <p:spPr>
          <a:xfrm>
            <a:off x="5623560" y="1417320"/>
            <a:ext cx="2743200" cy="502920"/>
          </a:xfrm>
          <a:prstGeom prst="rect">
            <a:avLst/>
          </a:prstGeom>
          <a:noFill/>
          <a:ln/>
        </p:spPr>
        <p:txBody>
          <a:bodyPr wrap="square" lIns="0" tIns="0" rIns="0" bIns="0" rtlCol="0" anchor="ctr"/>
          <a:lstStyle/>
          <a:p>
            <a:pPr indent="0" marL="0">
              <a:buNone/>
            </a:pPr>
            <a:r>
              <a:rPr lang="en-US" sz="2200" b="1" dirty="0">
                <a:solidFill>
                  <a:schemeClr val="tx1"/>
                </a:solidFill>
              </a:rPr>
              <a:t>Overkill</a:t>
            </a:r>
            <a:endParaRPr lang="en-US" sz="2200" dirty="0"/>
          </a:p>
        </p:txBody>
      </p:sp>
      <p:sp>
        <p:nvSpPr>
          <p:cNvPr id="11" name="bullets"/>
          <p:cNvSpPr txBox="1"/>
          <p:nvPr/>
        </p:nvSpPr>
        <p:spPr>
          <a:xfrm>
            <a:off x="777240" y="2194560"/>
            <a:ext cx="3474720" cy="2194560"/>
          </a:xfrm>
          <a:prstGeom prst="rect">
            <a:avLst/>
          </a:prstGeom>
          <a:noFill/>
          <a:ln/>
        </p:spPr>
        <p:txBody>
          <a:bodyPr wrap="square" lIns="0" tIns="0" rIns="0" bIns="0" rtlCol="0" anchor="t"/>
          <a:lstStyle/>
          <a:p>
            <a:pPr marL="190500" indent="-190500">
              <a:spcAft>
                <a:spcPts val="1000"/>
              </a:spcAft>
              <a:buSzPct val="100000"/>
              <a:buChar char="•"/>
            </a:pPr>
            <a:r>
              <a:rPr lang="en-US" sz="1500" dirty="0">
                <a:solidFill>
                  <a:schemeClr val="tx2"/>
                </a:solidFill>
              </a:rPr>
              <a:t>Greenfield features with real users</a:t>
            </a:r>
            <a:endParaRPr lang="en-US" sz="1500" dirty="0"/>
          </a:p>
          <a:p>
            <a:pPr marL="190500" indent="-190500">
              <a:spcAft>
                <a:spcPts val="1000"/>
              </a:spcAft>
              <a:buSzPct val="100000"/>
              <a:buChar char="•"/>
            </a:pPr>
            <a:r>
              <a:rPr lang="en-US" sz="1500" dirty="0">
                <a:solidFill>
                  <a:schemeClr val="tx2"/>
                </a:solidFill>
              </a:rPr>
              <a:t>Teams — specs are reviewable PRs</a:t>
            </a:r>
            <a:endParaRPr lang="en-US" sz="1500" dirty="0"/>
          </a:p>
          <a:p>
            <a:pPr marL="190500" indent="-190500">
              <a:spcAft>
                <a:spcPts val="1000"/>
              </a:spcAft>
              <a:buSzPct val="100000"/>
              <a:buChar char="•"/>
            </a:pPr>
            <a:r>
              <a:rPr lang="en-US" sz="1500" dirty="0">
                <a:solidFill>
                  <a:schemeClr val="tx2"/>
                </a:solidFill>
              </a:rPr>
              <a:t>Regulated or long-lived code</a:t>
            </a:r>
            <a:endParaRPr lang="en-US" sz="1500" dirty="0"/>
          </a:p>
          <a:p>
            <a:pPr marL="190500" indent="-190500">
              <a:spcAft>
                <a:spcPts val="1000"/>
              </a:spcAft>
              <a:buSzPct val="100000"/>
              <a:buChar char="•"/>
            </a:pPr>
            <a:r>
              <a:rPr lang="en-US" sz="1500" dirty="0">
                <a:solidFill>
                  <a:schemeClr val="tx2"/>
                </a:solidFill>
              </a:rPr>
              <a:t>Brownfield: add one feature at a time</a:t>
            </a:r>
            <a:endParaRPr lang="en-US" sz="1500" dirty="0"/>
          </a:p>
        </p:txBody>
      </p:sp>
      <p:sp>
        <p:nvSpPr>
          <p:cNvPr id="12" name="bullets"/>
          <p:cNvSpPr txBox="1"/>
          <p:nvPr/>
        </p:nvSpPr>
        <p:spPr>
          <a:xfrm>
            <a:off x="5029200" y="2194560"/>
            <a:ext cx="3474720" cy="2194560"/>
          </a:xfrm>
          <a:prstGeom prst="rect">
            <a:avLst/>
          </a:prstGeom>
          <a:noFill/>
          <a:ln/>
        </p:spPr>
        <p:txBody>
          <a:bodyPr wrap="square" lIns="0" tIns="0" rIns="0" bIns="0" rtlCol="0" anchor="t"/>
          <a:lstStyle/>
          <a:p>
            <a:pPr marL="190500" indent="-190500">
              <a:spcAft>
                <a:spcPts val="1000"/>
              </a:spcAft>
              <a:buSzPct val="100000"/>
              <a:buChar char="•"/>
            </a:pPr>
            <a:r>
              <a:rPr lang="en-US" sz="1500" dirty="0">
                <a:solidFill>
                  <a:schemeClr val="tx2"/>
                </a:solidFill>
              </a:rPr>
              <a:t>One-off scripts &amp; spikes</a:t>
            </a:r>
            <a:endParaRPr lang="en-US" sz="1500" dirty="0"/>
          </a:p>
          <a:p>
            <a:pPr marL="190500" indent="-190500">
              <a:spcAft>
                <a:spcPts val="1000"/>
              </a:spcAft>
              <a:buSzPct val="100000"/>
              <a:buChar char="•"/>
            </a:pPr>
            <a:r>
              <a:rPr lang="en-US" sz="1500" dirty="0">
                <a:solidFill>
                  <a:schemeClr val="tx2"/>
                </a:solidFill>
              </a:rPr>
              <a:t>Pure UI pixel-pushing</a:t>
            </a:r>
            <a:endParaRPr lang="en-US" sz="1500" dirty="0"/>
          </a:p>
          <a:p>
            <a:pPr marL="190500" indent="-190500">
              <a:spcAft>
                <a:spcPts val="1000"/>
              </a:spcAft>
              <a:buSzPct val="100000"/>
              <a:buChar char="•"/>
            </a:pPr>
            <a:r>
              <a:rPr lang="en-US" sz="1500" dirty="0">
                <a:solidFill>
                  <a:schemeClr val="tx2"/>
                </a:solidFill>
              </a:rPr>
              <a:t>When you skip reviewing the artifacts</a:t>
            </a:r>
            <a:endParaRPr lang="en-US" sz="1500" dirty="0"/>
          </a:p>
          <a:p>
            <a:pPr marL="190500" indent="-190500">
              <a:spcAft>
                <a:spcPts val="1000"/>
              </a:spcAft>
              <a:buSzPct val="100000"/>
              <a:buChar char="•"/>
            </a:pPr>
            <a:r>
              <a:rPr lang="en-US" sz="1500" dirty="0">
                <a:solidFill>
                  <a:schemeClr val="tx2"/>
                </a:solidFill>
              </a:rPr>
              <a:t>Specs that leak implementation</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400" b="1" dirty="0">
                <a:solidFill>
                  <a:schemeClr val="bg1"/>
                </a:solidFill>
              </a:rPr>
              <a:t>Demo · pura-vida-links</a:t>
            </a:r>
            <a:endParaRPr lang="en-US" sz="3400" dirty="0"/>
          </a:p>
        </p:txBody>
      </p:sp>
      <p:sp>
        <p:nvSpPr>
          <p:cNvPr id="3" name="code-panel"/>
          <p:cNvSpPr/>
          <p:nvPr/>
        </p:nvSpPr>
        <p:spPr>
          <a:xfrm>
            <a:off x="457200" y="1188720"/>
            <a:ext cx="4572000" cy="3291840"/>
          </a:xfrm>
          <a:prstGeom prst="roundRect">
            <a:avLst>
              <a:gd name="adj" fmla="val 3333"/>
            </a:avLst>
          </a:prstGeom>
          <a:solidFill>
            <a:srgbClr val="0A1416"/>
          </a:solidFill>
          <a:ln w="19050">
            <a:solidFill>
              <a:srgbClr val="2A4A44"/>
            </a:solidFill>
            <a:prstDash val="solid"/>
          </a:ln>
          <a:effectLst>
            <a:outerShdw sx="100000" sy="100000" kx="0" ky="0" algn="bl" rotWithShape="0" blurRad="101600" dist="25400" dir="5400000">
              <a:srgbClr val="000000">
                <a:alpha val="18000"/>
              </a:srgbClr>
            </a:outerShdw>
          </a:effectLst>
        </p:spPr>
      </p:sp>
      <p:sp>
        <p:nvSpPr>
          <p:cNvPr id="4" name="Text 2"/>
          <p:cNvSpPr txBox="1"/>
          <p:nvPr/>
        </p:nvSpPr>
        <p:spPr>
          <a:xfrm>
            <a:off x="640080" y="1280160"/>
            <a:ext cx="4206240" cy="274320"/>
          </a:xfrm>
          <a:prstGeom prst="rect">
            <a:avLst/>
          </a:prstGeom>
          <a:noFill/>
          <a:ln/>
        </p:spPr>
        <p:txBody>
          <a:bodyPr wrap="square" lIns="0" tIns="0" rIns="0" bIns="0" rtlCol="0" anchor="ctr"/>
          <a:lstStyle/>
          <a:p>
            <a:pPr indent="0" marL="0">
              <a:buNone/>
            </a:pPr>
            <a:r>
              <a:rPr lang="en-US" sz="1100" dirty="0">
                <a:solidFill>
                  <a:srgbClr val="5C6B66"/>
                </a:solidFill>
                <a:latin typeface="Courier New" pitchFamily="34" charset="0"/>
                <a:ea typeface="Courier New" pitchFamily="34" charset="-122"/>
                <a:cs typeface="Courier New" pitchFamily="34" charset="-120"/>
              </a:rPr>
              <a:t>one git tag per slash command</a:t>
            </a:r>
            <a:endParaRPr lang="en-US" sz="1100" dirty="0"/>
          </a:p>
        </p:txBody>
      </p:sp>
      <p:sp>
        <p:nvSpPr>
          <p:cNvPr id="5" name="code-text"/>
          <p:cNvSpPr txBox="1"/>
          <p:nvPr/>
        </p:nvSpPr>
        <p:spPr>
          <a:xfrm>
            <a:off x="640080" y="1572768"/>
            <a:ext cx="4206240" cy="2798064"/>
          </a:xfrm>
          <a:prstGeom prst="rect">
            <a:avLst/>
          </a:prstGeom>
          <a:noFill/>
          <a:ln/>
        </p:spPr>
        <p:txBody>
          <a:bodyPr wrap="square" lIns="0" tIns="0" rIns="0" bIns="0" rtlCol="0" anchor="t"/>
          <a:lstStyle/>
          <a:p>
            <a:pPr indent="0" marL="0">
              <a:spcAft>
                <a:spcPts val="200"/>
              </a:spcAft>
              <a:buNone/>
            </a:pPr>
            <a:r>
              <a:rPr lang="en-US" sz="1200" dirty="0">
                <a:solidFill>
                  <a:srgbClr val="6E8F80"/>
                </a:solidFill>
                <a:latin typeface="Courier New" pitchFamily="34" charset="0"/>
                <a:ea typeface="Courier New" pitchFamily="34" charset="-122"/>
                <a:cs typeface="Courier New" pitchFamily="34" charset="-120"/>
              </a:rPr>
              <a:t>$ git log --oneline --decorate</a:t>
            </a:r>
            <a:endParaRPr lang="en-US" sz="1200" dirty="0"/>
          </a:p>
          <a:p>
            <a:pPr indent="0" marL="0">
              <a:spcAft>
                <a:spcPts val="200"/>
              </a:spcAft>
              <a:buNone/>
            </a:pPr>
            <a:r>
              <a:rPr lang="en-US" sz="1200" dirty="0">
                <a:solidFill>
                  <a:srgbClr val="5C6B66"/>
                </a:solidFill>
                <a:latin typeface="Courier New" pitchFamily="34" charset="0"/>
                <a:ea typeface="Courier New" pitchFamily="34" charset="-122"/>
                <a:cs typeface="Courier New" pitchFamily="34" charset="-120"/>
              </a:rPr>
              <a:t>step-0-init</a:t>
            </a:r>
            <a:endParaRPr lang="en-US" sz="1200" dirty="0"/>
          </a:p>
          <a:p>
            <a:pPr indent="0" marL="0">
              <a:spcAft>
                <a:spcPts val="200"/>
              </a:spcAft>
              <a:buNone/>
            </a:pPr>
            <a:r>
              <a:rPr lang="en-US" sz="1200" dirty="0">
                <a:solidFill>
                  <a:srgbClr val="FFC857"/>
                </a:solidFill>
                <a:latin typeface="Courier New" pitchFamily="34" charset="0"/>
                <a:ea typeface="Courier New" pitchFamily="34" charset="-122"/>
                <a:cs typeface="Courier New" pitchFamily="34" charset="-120"/>
              </a:rPr>
              <a:t>step-1-constitution</a:t>
            </a:r>
            <a:endParaRPr lang="en-US" sz="1200" dirty="0"/>
          </a:p>
          <a:p>
            <a:pPr indent="0" marL="0">
              <a:spcAft>
                <a:spcPts val="200"/>
              </a:spcAft>
              <a:buNone/>
            </a:pPr>
            <a:r>
              <a:rPr lang="en-US" sz="1200" dirty="0">
                <a:solidFill>
                  <a:srgbClr val="2BB673"/>
                </a:solidFill>
                <a:latin typeface="Courier New" pitchFamily="34" charset="0"/>
                <a:ea typeface="Courier New" pitchFamily="34" charset="-122"/>
                <a:cs typeface="Courier New" pitchFamily="34" charset="-120"/>
              </a:rPr>
              <a:t>step-2-specify</a:t>
            </a:r>
            <a:endParaRPr lang="en-US" sz="1200" dirty="0"/>
          </a:p>
          <a:p>
            <a:pPr indent="0" marL="0">
              <a:spcAft>
                <a:spcPts val="200"/>
              </a:spcAft>
              <a:buNone/>
            </a:pPr>
            <a:r>
              <a:rPr lang="en-US" sz="1200" dirty="0">
                <a:solidFill>
                  <a:srgbClr val="FF7A45"/>
                </a:solidFill>
                <a:latin typeface="Courier New" pitchFamily="34" charset="0"/>
                <a:ea typeface="Courier New" pitchFamily="34" charset="-122"/>
                <a:cs typeface="Courier New" pitchFamily="34" charset="-120"/>
              </a:rPr>
              <a:t>step-3-clarify</a:t>
            </a:r>
            <a:endParaRPr lang="en-US" sz="1200" dirty="0"/>
          </a:p>
          <a:p>
            <a:pPr indent="0" marL="0">
              <a:spcAft>
                <a:spcPts val="200"/>
              </a:spcAft>
              <a:buNone/>
            </a:pPr>
            <a:r>
              <a:rPr lang="en-US" sz="1200" dirty="0">
                <a:solidFill>
                  <a:srgbClr val="4FB3D9"/>
                </a:solidFill>
                <a:latin typeface="Courier New" pitchFamily="34" charset="0"/>
                <a:ea typeface="Courier New" pitchFamily="34" charset="-122"/>
                <a:cs typeface="Courier New" pitchFamily="34" charset="-120"/>
              </a:rPr>
              <a:t>step-4-plan</a:t>
            </a:r>
            <a:endParaRPr lang="en-US" sz="1200" dirty="0"/>
          </a:p>
          <a:p>
            <a:pPr indent="0" marL="0">
              <a:spcAft>
                <a:spcPts val="200"/>
              </a:spcAft>
              <a:buNone/>
            </a:pPr>
            <a:r>
              <a:rPr lang="en-US" sz="1200" dirty="0">
                <a:solidFill>
                  <a:srgbClr val="FFC857"/>
                </a:solidFill>
                <a:latin typeface="Courier New" pitchFamily="34" charset="0"/>
                <a:ea typeface="Courier New" pitchFamily="34" charset="-122"/>
                <a:cs typeface="Courier New" pitchFamily="34" charset="-120"/>
              </a:rPr>
              <a:t>step-5-tasks</a:t>
            </a:r>
            <a:endParaRPr lang="en-US" sz="1200" dirty="0"/>
          </a:p>
          <a:p>
            <a:pPr indent="0" marL="0">
              <a:spcAft>
                <a:spcPts val="200"/>
              </a:spcAft>
              <a:buNone/>
            </a:pPr>
            <a:r>
              <a:rPr lang="en-US" sz="1200" dirty="0">
                <a:solidFill>
                  <a:srgbClr val="FF7A45"/>
                </a:solidFill>
                <a:latin typeface="Courier New" pitchFamily="34" charset="0"/>
                <a:ea typeface="Courier New" pitchFamily="34" charset="-122"/>
                <a:cs typeface="Courier New" pitchFamily="34" charset="-120"/>
              </a:rPr>
              <a:t>step-6-analyze</a:t>
            </a:r>
            <a:endParaRPr lang="en-US" sz="1200" dirty="0"/>
          </a:p>
          <a:p>
            <a:pPr indent="0" marL="0">
              <a:spcAft>
                <a:spcPts val="200"/>
              </a:spcAft>
              <a:buNone/>
            </a:pPr>
            <a:r>
              <a:rPr lang="en-US" sz="1200" b="1" dirty="0">
                <a:solidFill>
                  <a:srgbClr val="2BB673"/>
                </a:solidFill>
                <a:latin typeface="Courier New" pitchFamily="34" charset="0"/>
                <a:ea typeface="Courier New" pitchFamily="34" charset="-122"/>
                <a:cs typeface="Courier New" pitchFamily="34" charset="-120"/>
              </a:rPr>
              <a:t>step-7-implement     44 passed</a:t>
            </a:r>
            <a:endParaRPr lang="en-US" sz="1200" dirty="0"/>
          </a:p>
          <a:p>
            <a:pPr indent="0" marL="0">
              <a:spcAft>
                <a:spcPts val="200"/>
              </a:spcAft>
              <a:buNone/>
            </a:pPr>
            <a:r>
              <a:rPr lang="en-US" sz="1200" b="1" dirty="0">
                <a:solidFill>
                  <a:srgbClr val="A78BFA"/>
                </a:solidFill>
                <a:latin typeface="Courier New" pitchFamily="34" charset="0"/>
                <a:ea typeface="Courier New" pitchFamily="34" charset="-122"/>
                <a:cs typeface="Courier New" pitchFamily="34" charset="-120"/>
              </a:rPr>
              <a:t>solution-002-click-stats</a:t>
            </a:r>
            <a:endParaRPr lang="en-US" sz="1200" dirty="0"/>
          </a:p>
        </p:txBody>
      </p:sp>
      <p:sp>
        <p:nvSpPr>
          <p:cNvPr id="6" name="icon-bg-FaRoute"/>
          <p:cNvSpPr/>
          <p:nvPr/>
        </p:nvSpPr>
        <p:spPr>
          <a:xfrm>
            <a:off x="5394960" y="1325880"/>
            <a:ext cx="640080" cy="640080"/>
          </a:xfrm>
          <a:prstGeom prst="ellipse">
            <a:avLst/>
          </a:prstGeom>
          <a:solidFill>
            <a:schemeClr val="accent1"/>
          </a:solidFill>
          <a:ln w="12700">
            <a:solidFill>
              <a:schemeClr val="accent1"/>
            </a:solidFill>
            <a:prstDash val="solid"/>
          </a:ln>
        </p:spPr>
      </p:sp>
      <p:pic>
        <p:nvPicPr>
          <p:cNvPr id="7" name="icon-FaRoute" descr="preencoded.png">    </p:cNvPr>
          <p:cNvPicPr>
            <a:picLocks noChangeAspect="1"/>
          </p:cNvPicPr>
          <p:nvPr/>
        </p:nvPicPr>
        <p:blipFill>
          <a:blip r:embed="rId1"/>
          <a:stretch>
            <a:fillRect/>
          </a:stretch>
        </p:blipFill>
        <p:spPr>
          <a:xfrm>
            <a:off x="5554980" y="1485900"/>
            <a:ext cx="320040" cy="320040"/>
          </a:xfrm>
          <a:prstGeom prst="rect">
            <a:avLst/>
          </a:prstGeom>
        </p:spPr>
      </p:pic>
      <p:sp>
        <p:nvSpPr>
          <p:cNvPr id="8" name="Text 5"/>
          <p:cNvSpPr txBox="1"/>
          <p:nvPr/>
        </p:nvSpPr>
        <p:spPr>
          <a:xfrm>
            <a:off x="6217920" y="1325880"/>
            <a:ext cx="2560320" cy="329184"/>
          </a:xfrm>
          <a:prstGeom prst="rect">
            <a:avLst/>
          </a:prstGeom>
          <a:noFill/>
          <a:ln/>
        </p:spPr>
        <p:txBody>
          <a:bodyPr wrap="square" lIns="0" tIns="0" rIns="0" bIns="0" rtlCol="0" anchor="ctr"/>
          <a:lstStyle/>
          <a:p>
            <a:pPr indent="0" marL="0">
              <a:buNone/>
            </a:pPr>
            <a:r>
              <a:rPr lang="en-US" sz="1600" b="1" dirty="0">
                <a:solidFill>
                  <a:schemeClr val="bg1"/>
                </a:solidFill>
              </a:rPr>
              <a:t>Act 1 — walk the trail</a:t>
            </a:r>
            <a:endParaRPr lang="en-US" sz="1600" dirty="0"/>
          </a:p>
        </p:txBody>
      </p:sp>
      <p:sp>
        <p:nvSpPr>
          <p:cNvPr id="9" name="Text 6"/>
          <p:cNvSpPr txBox="1"/>
          <p:nvPr/>
        </p:nvSpPr>
        <p:spPr>
          <a:xfrm>
            <a:off x="6217920" y="1655064"/>
            <a:ext cx="2560320" cy="292608"/>
          </a:xfrm>
          <a:prstGeom prst="rect">
            <a:avLst/>
          </a:prstGeom>
          <a:noFill/>
          <a:ln/>
        </p:spPr>
        <p:txBody>
          <a:bodyPr wrap="square" lIns="0" tIns="0" rIns="0" bIns="0" rtlCol="0" anchor="ctr"/>
          <a:lstStyle/>
          <a:p>
            <a:pPr indent="0" marL="0">
              <a:buNone/>
            </a:pPr>
            <a:r>
              <a:rPr lang="en-US" sz="1300" dirty="0">
                <a:solidFill>
                  <a:schemeClr val="bg2"/>
                </a:solidFill>
              </a:rPr>
              <a:t>feature 001, tag by tag</a:t>
            </a:r>
            <a:endParaRPr lang="en-US" sz="1300" dirty="0"/>
          </a:p>
        </p:txBody>
      </p:sp>
      <p:sp>
        <p:nvSpPr>
          <p:cNvPr id="10" name="icon-bg-FaBolt"/>
          <p:cNvSpPr/>
          <p:nvPr/>
        </p:nvSpPr>
        <p:spPr>
          <a:xfrm>
            <a:off x="5394960" y="2331720"/>
            <a:ext cx="640080" cy="640080"/>
          </a:xfrm>
          <a:prstGeom prst="ellipse">
            <a:avLst/>
          </a:prstGeom>
          <a:solidFill>
            <a:schemeClr val="accent1"/>
          </a:solidFill>
          <a:ln w="12700">
            <a:solidFill>
              <a:schemeClr val="accent1"/>
            </a:solidFill>
            <a:prstDash val="solid"/>
          </a:ln>
        </p:spPr>
      </p:sp>
      <p:pic>
        <p:nvPicPr>
          <p:cNvPr id="11" name="icon-FaBolt" descr="preencoded.png">    </p:cNvPr>
          <p:cNvPicPr>
            <a:picLocks noChangeAspect="1"/>
          </p:cNvPicPr>
          <p:nvPr/>
        </p:nvPicPr>
        <p:blipFill>
          <a:blip r:embed="rId2"/>
          <a:stretch>
            <a:fillRect/>
          </a:stretch>
        </p:blipFill>
        <p:spPr>
          <a:xfrm>
            <a:off x="5554980" y="2491740"/>
            <a:ext cx="320040" cy="320040"/>
          </a:xfrm>
          <a:prstGeom prst="rect">
            <a:avLst/>
          </a:prstGeom>
        </p:spPr>
      </p:pic>
      <p:sp>
        <p:nvSpPr>
          <p:cNvPr id="12" name="Text 8"/>
          <p:cNvSpPr txBox="1"/>
          <p:nvPr/>
        </p:nvSpPr>
        <p:spPr>
          <a:xfrm>
            <a:off x="6217920" y="2331720"/>
            <a:ext cx="2560320" cy="329184"/>
          </a:xfrm>
          <a:prstGeom prst="rect">
            <a:avLst/>
          </a:prstGeom>
          <a:noFill/>
          <a:ln/>
        </p:spPr>
        <p:txBody>
          <a:bodyPr wrap="square" lIns="0" tIns="0" rIns="0" bIns="0" rtlCol="0" anchor="ctr"/>
          <a:lstStyle/>
          <a:p>
            <a:pPr indent="0" marL="0">
              <a:buNone/>
            </a:pPr>
            <a:r>
              <a:rPr lang="en-US" sz="1600" b="1" dirty="0">
                <a:solidFill>
                  <a:schemeClr val="bg1"/>
                </a:solidFill>
              </a:rPr>
              <a:t>Act 2 — live with Gemini</a:t>
            </a:r>
            <a:endParaRPr lang="en-US" sz="1600" dirty="0"/>
          </a:p>
        </p:txBody>
      </p:sp>
      <p:sp>
        <p:nvSpPr>
          <p:cNvPr id="13" name="Text 9"/>
          <p:cNvSpPr txBox="1"/>
          <p:nvPr/>
        </p:nvSpPr>
        <p:spPr>
          <a:xfrm>
            <a:off x="6217920" y="2660904"/>
            <a:ext cx="2560320" cy="292608"/>
          </a:xfrm>
          <a:prstGeom prst="rect">
            <a:avLst/>
          </a:prstGeom>
          <a:noFill/>
          <a:ln/>
        </p:spPr>
        <p:txBody>
          <a:bodyPr wrap="square" lIns="0" tIns="0" rIns="0" bIns="0" rtlCol="0" anchor="ctr"/>
          <a:lstStyle/>
          <a:p>
            <a:pPr indent="0" marL="0">
              <a:buNone/>
            </a:pPr>
            <a:r>
              <a:rPr lang="en-US" sz="1300" dirty="0">
                <a:solidFill>
                  <a:schemeClr val="bg2"/>
                </a:solidFill>
              </a:rPr>
              <a:t>feature 002: click stats</a:t>
            </a:r>
            <a:endParaRPr lang="en-US" sz="1300" dirty="0"/>
          </a:p>
        </p:txBody>
      </p:sp>
      <p:sp>
        <p:nvSpPr>
          <p:cNvPr id="14" name="icon-bg-FaLifeRing"/>
          <p:cNvSpPr/>
          <p:nvPr/>
        </p:nvSpPr>
        <p:spPr>
          <a:xfrm>
            <a:off x="5394960" y="3337560"/>
            <a:ext cx="640080" cy="640080"/>
          </a:xfrm>
          <a:prstGeom prst="ellipse">
            <a:avLst/>
          </a:prstGeom>
          <a:solidFill>
            <a:schemeClr val="accent1"/>
          </a:solidFill>
          <a:ln w="12700">
            <a:solidFill>
              <a:schemeClr val="accent1"/>
            </a:solidFill>
            <a:prstDash val="solid"/>
          </a:ln>
        </p:spPr>
      </p:sp>
      <p:pic>
        <p:nvPicPr>
          <p:cNvPr id="15" name="icon-FaLifeRing" descr="preencoded.png">    </p:cNvPr>
          <p:cNvPicPr>
            <a:picLocks noChangeAspect="1"/>
          </p:cNvPicPr>
          <p:nvPr/>
        </p:nvPicPr>
        <p:blipFill>
          <a:blip r:embed="rId3"/>
          <a:stretch>
            <a:fillRect/>
          </a:stretch>
        </p:blipFill>
        <p:spPr>
          <a:xfrm>
            <a:off x="5554980" y="3497580"/>
            <a:ext cx="320040" cy="320040"/>
          </a:xfrm>
          <a:prstGeom prst="rect">
            <a:avLst/>
          </a:prstGeom>
        </p:spPr>
      </p:pic>
      <p:sp>
        <p:nvSpPr>
          <p:cNvPr id="16" name="Text 11"/>
          <p:cNvSpPr txBox="1"/>
          <p:nvPr/>
        </p:nvSpPr>
        <p:spPr>
          <a:xfrm>
            <a:off x="6217920" y="3337560"/>
            <a:ext cx="2560320" cy="329184"/>
          </a:xfrm>
          <a:prstGeom prst="rect">
            <a:avLst/>
          </a:prstGeom>
          <a:noFill/>
          <a:ln/>
        </p:spPr>
        <p:txBody>
          <a:bodyPr wrap="square" lIns="0" tIns="0" rIns="0" bIns="0" rtlCol="0" anchor="ctr"/>
          <a:lstStyle/>
          <a:p>
            <a:pPr indent="0" marL="0">
              <a:buNone/>
            </a:pPr>
            <a:r>
              <a:rPr lang="en-US" sz="1600" b="1" dirty="0">
                <a:solidFill>
                  <a:schemeClr val="bg1"/>
                </a:solidFill>
              </a:rPr>
              <a:t>Safety net</a:t>
            </a:r>
            <a:endParaRPr lang="en-US" sz="1600" dirty="0"/>
          </a:p>
        </p:txBody>
      </p:sp>
      <p:sp>
        <p:nvSpPr>
          <p:cNvPr id="17" name="Text 12"/>
          <p:cNvSpPr txBox="1"/>
          <p:nvPr/>
        </p:nvSpPr>
        <p:spPr>
          <a:xfrm>
            <a:off x="6217920" y="3666744"/>
            <a:ext cx="2560320" cy="292608"/>
          </a:xfrm>
          <a:prstGeom prst="rect">
            <a:avLst/>
          </a:prstGeom>
          <a:noFill/>
          <a:ln/>
        </p:spPr>
        <p:txBody>
          <a:bodyPr wrap="square" lIns="0" tIns="0" rIns="0" bIns="0" rtlCol="0" anchor="ctr"/>
          <a:lstStyle/>
          <a:p>
            <a:pPr indent="0" marL="0">
              <a:buNone/>
            </a:pPr>
            <a:r>
              <a:rPr lang="en-US" sz="1300" dirty="0">
                <a:solidFill>
                  <a:schemeClr val="bg2"/>
                </a:solidFill>
              </a:rPr>
              <a:t>git checkout solution-002</a:t>
            </a:r>
            <a:endParaRPr lang="en-US" sz="1300" dirty="0"/>
          </a:p>
        </p:txBody>
      </p:sp>
      <p:sp>
        <p:nvSpPr>
          <p:cNvPr id="18" name="Text 13"/>
          <p:cNvSpPr txBox="1"/>
          <p:nvPr/>
        </p:nvSpPr>
        <p:spPr>
          <a:xfrm>
            <a:off x="5394960" y="4206240"/>
            <a:ext cx="3291840" cy="274320"/>
          </a:xfrm>
          <a:prstGeom prst="rect">
            <a:avLst/>
          </a:prstGeom>
          <a:noFill/>
          <a:ln/>
        </p:spPr>
        <p:txBody>
          <a:bodyPr wrap="square" lIns="0" tIns="0" rIns="0" bIns="0" rtlCol="0" anchor="ctr"/>
          <a:lstStyle/>
          <a:p>
            <a:pPr indent="0" marL="0">
              <a:buNone/>
            </a:pPr>
            <a:r>
              <a:rPr lang="en-US" sz="1300" i="1" dirty="0">
                <a:solidFill>
                  <a:schemeClr val="accent1"/>
                </a:solidFill>
              </a:rPr>
              <a:t>Built with GitHub Spec Kit + Gemini CLI</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754880" cy="1463040"/>
          </a:xfrm>
          <a:prstGeom prst="rect">
            <a:avLst/>
          </a:prstGeom>
          <a:noFill/>
          <a:ln/>
        </p:spPr>
        <p:txBody>
          <a:bodyPr wrap="square" lIns="0" tIns="0" rIns="0" bIns="0" rtlCol="0" anchor="b"/>
          <a:lstStyle/>
          <a:p>
            <a:pPr algn="l" indent="0" marL="0">
              <a:buNone/>
            </a:pPr>
            <a:r>
              <a:rPr lang="en-US" sz="4000" b="1" dirty="0">
                <a:solidFill>
                  <a:schemeClr val="bg1"/>
                </a:solidFill>
              </a:rPr>
              <a:t>¡Pura vida, specs!</a:t>
            </a:r>
            <a:endParaRPr lang="en-US" sz="4000" dirty="0"/>
          </a:p>
        </p:txBody>
      </p:sp>
      <p:sp>
        <p:nvSpPr>
          <p:cNvPr id="3" name="Text 0"/>
          <p:cNvSpPr/>
          <p:nvPr>
            <p:ph idx="101" type="body" hasCustomPrompt="1"/>
          </p:nvPr>
        </p:nvSpPr>
        <p:spPr>
          <a:xfrm>
            <a:off x="548640" y="2788920"/>
            <a:ext cx="4572000" cy="822960"/>
          </a:xfrm>
          <a:prstGeom prst="rect">
            <a:avLst/>
          </a:prstGeom>
          <a:noFill/>
          <a:ln/>
        </p:spPr>
        <p:txBody>
          <a:bodyPr wrap="square" lIns="0" tIns="0" rIns="0" bIns="0" rtlCol="0" anchor="t"/>
          <a:lstStyle/>
          <a:p>
            <a:pPr algn="l" indent="0" marL="0">
              <a:buNone/>
            </a:pPr>
            <a:r>
              <a:rPr lang="en-US" sz="1800" dirty="0">
                <a:solidFill>
                  <a:schemeClr val="accent1"/>
                </a:solidFill>
              </a:rPr>
              <a:t>Write intent down. Let the agent build. Review every gate.</a:t>
            </a:r>
            <a:endParaRPr lang="en-US" sz="1800" dirty="0"/>
          </a:p>
        </p:txBody>
      </p:sp>
      <p:sp>
        <p:nvSpPr>
          <p:cNvPr id="4" name="icon-bg-FaFileAlt"/>
          <p:cNvSpPr/>
          <p:nvPr/>
        </p:nvSpPr>
        <p:spPr>
          <a:xfrm>
            <a:off x="5669280" y="1234440"/>
            <a:ext cx="640080" cy="640080"/>
          </a:xfrm>
          <a:prstGeom prst="ellipse">
            <a:avLst/>
          </a:prstGeom>
          <a:solidFill>
            <a:schemeClr val="accent1"/>
          </a:solidFill>
          <a:ln w="12700">
            <a:solidFill>
              <a:schemeClr val="accent1"/>
            </a:solidFill>
            <a:prstDash val="solid"/>
          </a:ln>
        </p:spPr>
      </p:sp>
      <p:pic>
        <p:nvPicPr>
          <p:cNvPr id="5" name="icon-FaFileAlt" descr="preencoded.png">    </p:cNvPr>
          <p:cNvPicPr>
            <a:picLocks noChangeAspect="1"/>
          </p:cNvPicPr>
          <p:nvPr/>
        </p:nvPicPr>
        <p:blipFill>
          <a:blip r:embed="rId1"/>
          <a:stretch>
            <a:fillRect/>
          </a:stretch>
        </p:blipFill>
        <p:spPr>
          <a:xfrm>
            <a:off x="5829300" y="1394460"/>
            <a:ext cx="320040" cy="320040"/>
          </a:xfrm>
          <a:prstGeom prst="rect">
            <a:avLst/>
          </a:prstGeom>
        </p:spPr>
      </p:pic>
      <p:sp>
        <p:nvSpPr>
          <p:cNvPr id="6" name="Text 3"/>
          <p:cNvSpPr txBox="1"/>
          <p:nvPr/>
        </p:nvSpPr>
        <p:spPr>
          <a:xfrm>
            <a:off x="6492240" y="1234440"/>
            <a:ext cx="2377440" cy="640080"/>
          </a:xfrm>
          <a:prstGeom prst="rect">
            <a:avLst/>
          </a:prstGeom>
          <a:noFill/>
          <a:ln/>
        </p:spPr>
        <p:txBody>
          <a:bodyPr wrap="square" lIns="0" tIns="0" rIns="0" bIns="0" rtlCol="0" anchor="ctr"/>
          <a:lstStyle/>
          <a:p>
            <a:pPr indent="0" marL="0">
              <a:buNone/>
            </a:pPr>
            <a:r>
              <a:rPr lang="en-US" sz="1700" b="1" dirty="0">
                <a:solidFill>
                  <a:schemeClr val="bg1"/>
                </a:solidFill>
              </a:rPr>
              <a:t>Spec = source of truth</a:t>
            </a:r>
            <a:endParaRPr lang="en-US" sz="1700" dirty="0"/>
          </a:p>
        </p:txBody>
      </p:sp>
      <p:sp>
        <p:nvSpPr>
          <p:cNvPr id="7" name="icon-bg-FaQuestionCircle"/>
          <p:cNvSpPr/>
          <p:nvPr/>
        </p:nvSpPr>
        <p:spPr>
          <a:xfrm>
            <a:off x="5669280" y="2148840"/>
            <a:ext cx="640080" cy="640080"/>
          </a:xfrm>
          <a:prstGeom prst="ellipse">
            <a:avLst/>
          </a:prstGeom>
          <a:solidFill>
            <a:schemeClr val="accent1"/>
          </a:solidFill>
          <a:ln w="12700">
            <a:solidFill>
              <a:schemeClr val="accent1"/>
            </a:solidFill>
            <a:prstDash val="solid"/>
          </a:ln>
        </p:spPr>
      </p:sp>
      <p:pic>
        <p:nvPicPr>
          <p:cNvPr id="8" name="icon-FaQuestionCircle" descr="preencoded.png">    </p:cNvPr>
          <p:cNvPicPr>
            <a:picLocks noChangeAspect="1"/>
          </p:cNvPicPr>
          <p:nvPr/>
        </p:nvPicPr>
        <p:blipFill>
          <a:blip r:embed="rId2"/>
          <a:stretch>
            <a:fillRect/>
          </a:stretch>
        </p:blipFill>
        <p:spPr>
          <a:xfrm>
            <a:off x="5829300" y="2308860"/>
            <a:ext cx="320040" cy="320040"/>
          </a:xfrm>
          <a:prstGeom prst="rect">
            <a:avLst/>
          </a:prstGeom>
        </p:spPr>
      </p:pic>
      <p:sp>
        <p:nvSpPr>
          <p:cNvPr id="9" name="Text 5"/>
          <p:cNvSpPr txBox="1"/>
          <p:nvPr/>
        </p:nvSpPr>
        <p:spPr>
          <a:xfrm>
            <a:off x="6492240" y="2148840"/>
            <a:ext cx="2377440" cy="640080"/>
          </a:xfrm>
          <a:prstGeom prst="rect">
            <a:avLst/>
          </a:prstGeom>
          <a:noFill/>
          <a:ln/>
        </p:spPr>
        <p:txBody>
          <a:bodyPr wrap="square" lIns="0" tIns="0" rIns="0" bIns="0" rtlCol="0" anchor="ctr"/>
          <a:lstStyle/>
          <a:p>
            <a:pPr indent="0" marL="0">
              <a:buNone/>
            </a:pPr>
            <a:r>
              <a:rPr lang="en-US" sz="1700" b="1" dirty="0">
                <a:solidFill>
                  <a:schemeClr val="bg1"/>
                </a:solidFill>
              </a:rPr>
              <a:t>Agents ask, not guess</a:t>
            </a:r>
            <a:endParaRPr lang="en-US" sz="1700" dirty="0"/>
          </a:p>
        </p:txBody>
      </p:sp>
      <p:sp>
        <p:nvSpPr>
          <p:cNvPr id="10" name="icon-bg-FaLink"/>
          <p:cNvSpPr/>
          <p:nvPr/>
        </p:nvSpPr>
        <p:spPr>
          <a:xfrm>
            <a:off x="5669280" y="3063240"/>
            <a:ext cx="640080" cy="640080"/>
          </a:xfrm>
          <a:prstGeom prst="ellipse">
            <a:avLst/>
          </a:prstGeom>
          <a:solidFill>
            <a:schemeClr val="accent1"/>
          </a:solidFill>
          <a:ln w="12700">
            <a:solidFill>
              <a:schemeClr val="accent1"/>
            </a:solidFill>
            <a:prstDash val="solid"/>
          </a:ln>
        </p:spPr>
      </p:sp>
      <p:pic>
        <p:nvPicPr>
          <p:cNvPr id="11" name="icon-FaLink" descr="preencoded.png">    </p:cNvPr>
          <p:cNvPicPr>
            <a:picLocks noChangeAspect="1"/>
          </p:cNvPicPr>
          <p:nvPr/>
        </p:nvPicPr>
        <p:blipFill>
          <a:blip r:embed="rId3"/>
          <a:stretch>
            <a:fillRect/>
          </a:stretch>
        </p:blipFill>
        <p:spPr>
          <a:xfrm>
            <a:off x="5829300" y="3223260"/>
            <a:ext cx="320040" cy="320040"/>
          </a:xfrm>
          <a:prstGeom prst="rect">
            <a:avLst/>
          </a:prstGeom>
        </p:spPr>
      </p:pic>
      <p:sp>
        <p:nvSpPr>
          <p:cNvPr id="12" name="Text 7"/>
          <p:cNvSpPr txBox="1"/>
          <p:nvPr/>
        </p:nvSpPr>
        <p:spPr>
          <a:xfrm>
            <a:off x="6492240" y="3063240"/>
            <a:ext cx="2377440" cy="640080"/>
          </a:xfrm>
          <a:prstGeom prst="rect">
            <a:avLst/>
          </a:prstGeom>
          <a:noFill/>
          <a:ln/>
        </p:spPr>
        <p:txBody>
          <a:bodyPr wrap="square" lIns="0" tIns="0" rIns="0" bIns="0" rtlCol="0" anchor="ctr"/>
          <a:lstStyle/>
          <a:p>
            <a:pPr indent="0" marL="0">
              <a:buNone/>
            </a:pPr>
            <a:r>
              <a:rPr lang="en-US" sz="1700" b="1" dirty="0">
                <a:solidFill>
                  <a:schemeClr val="bg1"/>
                </a:solidFill>
              </a:rPr>
              <a:t>Traceable to the line</a:t>
            </a:r>
            <a:endParaRPr lang="en-US" sz="1700" dirty="0"/>
          </a:p>
        </p:txBody>
      </p:sp>
      <p:sp>
        <p:nvSpPr>
          <p:cNvPr id="13" name="Text 8"/>
          <p:cNvSpPr txBox="1"/>
          <p:nvPr/>
        </p:nvSpPr>
        <p:spPr>
          <a:xfrm>
            <a:off x="548640" y="4206240"/>
            <a:ext cx="8229600" cy="320040"/>
          </a:xfrm>
          <a:prstGeom prst="rect">
            <a:avLst/>
          </a:prstGeom>
          <a:noFill/>
          <a:ln/>
        </p:spPr>
        <p:txBody>
          <a:bodyPr wrap="square" lIns="0" tIns="0" rIns="0" bIns="0" rtlCol="0" anchor="ctr"/>
          <a:lstStyle/>
          <a:p>
            <a:pPr indent="0" marL="0">
              <a:buNone/>
            </a:pPr>
            <a:r>
              <a:rPr lang="en-US" sz="1300" dirty="0">
                <a:solidFill>
                  <a:schemeClr val="bg2"/>
                </a:solidFill>
                <a:latin typeface="Courier New" pitchFamily="34" charset="0"/>
                <a:ea typeface="Courier New" pitchFamily="34" charset="-122"/>
                <a:cs typeface="Courier New" pitchFamily="34" charset="-120"/>
              </a:rPr>
              <a:t>github.com/github/spec-kit  ·  repo: pura-vida-links</a:t>
            </a:r>
            <a:endParaRPr lang="en-US" sz="1300" dirty="0"/>
          </a:p>
        </p:txBody>
      </p:sp>
    </p:spTree>
  </p:cSld>
  <p:clrMapOvr>
    <a:masterClrMapping/>
  </p:clrMapOvr>
</p:sld>
</file>

<file path=ppt/theme/theme1.xml><?xml version="1.0" encoding="utf-8"?>
<a:theme xmlns:a="http://schemas.openxmlformats.org/drawingml/2006/main" name="Pura Vida SDD">
  <a:themeElements>
    <a:clrScheme name="Pura Vida SDD">
      <a:dk1>
        <a:srgbClr val="0E1B1F"/>
      </a:dk1>
      <a:lt1>
        <a:srgbClr val="FFFFFF"/>
      </a:lt1>
      <a:dk2>
        <a:srgbClr val="16302F"/>
      </a:dk2>
      <a:lt2>
        <a:srgbClr val="EEF6F1"/>
      </a:lt2>
      <a:accent1>
        <a:srgbClr val="2BB673"/>
      </a:accent1>
      <a:accent2>
        <a:srgbClr val="FF7A45"/>
      </a:accent2>
      <a:accent3>
        <a:srgbClr val="4FB3D9"/>
      </a:accent3>
      <a:accent4>
        <a:srgbClr val="FFC857"/>
      </a:accent4>
      <a:accent5>
        <a:srgbClr val="A78BFA"/>
      </a:accent5>
      <a:accent6>
        <a:srgbClr val="5C6B66"/>
      </a:accent6>
      <a:hlink>
        <a:srgbClr val="1F8A57"/>
      </a:hlink>
      <a:folHlink>
        <a:srgbClr val="5C6B66"/>
      </a:folHlink>
    </a:clrScheme>
    <a:fontScheme name="Pura Vida SD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Spec-Driven Development &amp; Agentic Engineering</dc:title>
  <dc:subject>PptxGenJS Presentation</dc:subject>
  <dc:creator>Tiger</dc:creator>
  <cp:lastModifiedBy>Tiger</cp:lastModifiedBy>
  <cp:revision>1</cp:revision>
  <dcterms:created xsi:type="dcterms:W3CDTF">2026-10-23T19:29:52Z</dcterms:created>
  <dcterms:modified xsi:type="dcterms:W3CDTF">2026-10-23T19:29:52Z</dcterms:modified>
</cp:coreProperties>
</file>